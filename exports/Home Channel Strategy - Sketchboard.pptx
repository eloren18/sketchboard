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Exported from Sketchboard. All shapes, arrows and labels are native PowerPoint objects and can be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Exported from Sketchboard. Headings, bodies and the triangle are native PowerPoint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11457432" cy="457200"/>
          </a:xfrm>
          <a:prstGeom prst="rect">
            <a:avLst/>
          </a:prstGeom>
          <a:noFill/>
          <a:ln/>
        </p:spPr>
        <p:txBody>
          <a:bodyPr wrap="square" lIns="0" tIns="0" rIns="0" bIns="0" rtlCol="0" anchor="ctr"/>
          <a:lstStyle/>
          <a:p>
            <a:pPr indent="0" marL="0">
              <a:buNone/>
            </a:pPr>
            <a:r>
              <a:rPr lang="en-US" sz="2200" b="1" dirty="0">
                <a:solidFill>
                  <a:srgbClr val="1E1E1E"/>
                </a:solidFill>
                <a:latin typeface="Calibri" pitchFamily="34" charset="0"/>
                <a:ea typeface="Calibri" pitchFamily="34" charset="-122"/>
                <a:cs typeface="Calibri" pitchFamily="34" charset="-120"/>
              </a:rPr>
              <a:t>Home Channel Strategy and Execution Flow</a:t>
            </a:r>
            <a:endParaRPr lang="en-US" sz="2200" dirty="0"/>
          </a:p>
        </p:txBody>
      </p:sp>
      <p:sp>
        <p:nvSpPr>
          <p:cNvPr id="3" name="Shape 1"/>
          <p:cNvSpPr/>
          <p:nvPr/>
        </p:nvSpPr>
        <p:spPr>
          <a:xfrm>
            <a:off x="2640296" y="822960"/>
            <a:ext cx="1364721" cy="511771"/>
          </a:xfrm>
          <a:prstGeom prst="rect">
            <a:avLst/>
          </a:prstGeom>
          <a:solidFill>
            <a:srgbClr val="FFEC99"/>
          </a:solidFill>
          <a:ln w="12700">
            <a:solidFill>
              <a:srgbClr val="1E1E1E"/>
            </a:solidFill>
            <a:prstDash val="solid"/>
          </a:ln>
        </p:spPr>
      </p:sp>
      <p:sp>
        <p:nvSpPr>
          <p:cNvPr id="4" name="Text 2"/>
          <p:cNvSpPr txBox="1"/>
          <p:nvPr/>
        </p:nvSpPr>
        <p:spPr>
          <a:xfrm>
            <a:off x="2640296" y="822960"/>
            <a:ext cx="1364721" cy="511771"/>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Head of Shopper Marketing</a:t>
            </a:r>
            <a:endParaRPr lang="en-US" sz="900" dirty="0"/>
          </a:p>
        </p:txBody>
      </p:sp>
      <p:sp>
        <p:nvSpPr>
          <p:cNvPr id="5" name="Shape 3"/>
          <p:cNvSpPr/>
          <p:nvPr/>
        </p:nvSpPr>
        <p:spPr>
          <a:xfrm>
            <a:off x="4914831" y="822960"/>
            <a:ext cx="1364721" cy="511771"/>
          </a:xfrm>
          <a:prstGeom prst="rect">
            <a:avLst/>
          </a:prstGeom>
          <a:solidFill>
            <a:srgbClr val="FFEC99"/>
          </a:solidFill>
          <a:ln w="12700">
            <a:solidFill>
              <a:srgbClr val="1E1E1E"/>
            </a:solidFill>
            <a:prstDash val="solid"/>
          </a:ln>
        </p:spPr>
      </p:sp>
      <p:sp>
        <p:nvSpPr>
          <p:cNvPr id="6" name="Text 4"/>
          <p:cNvSpPr txBox="1"/>
          <p:nvPr/>
        </p:nvSpPr>
        <p:spPr>
          <a:xfrm>
            <a:off x="4914831" y="822960"/>
            <a:ext cx="1364721" cy="511771"/>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Director of Commercial</a:t>
            </a:r>
            <a:endParaRPr lang="en-US" sz="900" dirty="0"/>
          </a:p>
          <a:p>
            <a:pPr algn="ctr" indent="0" marL="0">
              <a:buNone/>
            </a:pPr>
            <a:r>
              <a:rPr lang="en-US" sz="900" b="1" dirty="0">
                <a:solidFill>
                  <a:srgbClr val="1E1E1E"/>
                </a:solidFill>
                <a:latin typeface="Calibri" pitchFamily="34" charset="0"/>
                <a:ea typeface="Calibri" pitchFamily="34" charset="-122"/>
                <a:cs typeface="Calibri" pitchFamily="34" charset="-120"/>
              </a:rPr>
              <a:t>Development</a:t>
            </a:r>
            <a:endParaRPr lang="en-US" sz="900" dirty="0"/>
          </a:p>
        </p:txBody>
      </p:sp>
      <p:sp>
        <p:nvSpPr>
          <p:cNvPr id="7" name="Shape 5"/>
          <p:cNvSpPr/>
          <p:nvPr/>
        </p:nvSpPr>
        <p:spPr>
          <a:xfrm>
            <a:off x="365760" y="1960228"/>
            <a:ext cx="1364721" cy="511771"/>
          </a:xfrm>
          <a:prstGeom prst="rect">
            <a:avLst/>
          </a:prstGeom>
          <a:solidFill>
            <a:srgbClr val="FFC9C9"/>
          </a:solidFill>
          <a:ln w="12700">
            <a:solidFill>
              <a:srgbClr val="1E1E1E"/>
            </a:solidFill>
            <a:prstDash val="solid"/>
          </a:ln>
        </p:spPr>
      </p:sp>
      <p:sp>
        <p:nvSpPr>
          <p:cNvPr id="8" name="Text 6"/>
          <p:cNvSpPr txBox="1"/>
          <p:nvPr/>
        </p:nvSpPr>
        <p:spPr>
          <a:xfrm>
            <a:off x="365760" y="1960228"/>
            <a:ext cx="1364721" cy="511771"/>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KO, Director of Media</a:t>
            </a:r>
            <a:endParaRPr lang="en-US" sz="900" dirty="0"/>
          </a:p>
        </p:txBody>
      </p:sp>
      <p:sp>
        <p:nvSpPr>
          <p:cNvPr id="9" name="Shape 7"/>
          <p:cNvSpPr/>
          <p:nvPr/>
        </p:nvSpPr>
        <p:spPr>
          <a:xfrm>
            <a:off x="2640296" y="1960228"/>
            <a:ext cx="1364721" cy="511771"/>
          </a:xfrm>
          <a:prstGeom prst="rect">
            <a:avLst/>
          </a:prstGeom>
          <a:solidFill>
            <a:srgbClr val="FFEC99"/>
          </a:solidFill>
          <a:ln w="12700">
            <a:solidFill>
              <a:srgbClr val="1E1E1E"/>
            </a:solidFill>
            <a:prstDash val="solid"/>
          </a:ln>
        </p:spPr>
      </p:sp>
      <p:sp>
        <p:nvSpPr>
          <p:cNvPr id="10" name="Text 8"/>
          <p:cNvSpPr txBox="1"/>
          <p:nvPr/>
        </p:nvSpPr>
        <p:spPr>
          <a:xfrm>
            <a:off x="2640296" y="1960228"/>
            <a:ext cx="1364721" cy="511771"/>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Lead Home Channel</a:t>
            </a:r>
            <a:endParaRPr lang="en-US" sz="900" dirty="0"/>
          </a:p>
        </p:txBody>
      </p:sp>
      <p:sp>
        <p:nvSpPr>
          <p:cNvPr id="11" name="Shape 9"/>
          <p:cNvSpPr/>
          <p:nvPr/>
        </p:nvSpPr>
        <p:spPr>
          <a:xfrm>
            <a:off x="4914831" y="1960228"/>
            <a:ext cx="1364721" cy="511771"/>
          </a:xfrm>
          <a:prstGeom prst="rect">
            <a:avLst/>
          </a:prstGeom>
          <a:solidFill>
            <a:srgbClr val="FFC9C9"/>
          </a:solidFill>
          <a:ln w="12700">
            <a:solidFill>
              <a:srgbClr val="1E1E1E"/>
            </a:solidFill>
            <a:prstDash val="solid"/>
          </a:ln>
        </p:spPr>
      </p:sp>
      <p:sp>
        <p:nvSpPr>
          <p:cNvPr id="12" name="Text 10"/>
          <p:cNvSpPr txBox="1"/>
          <p:nvPr/>
        </p:nvSpPr>
        <p:spPr>
          <a:xfrm>
            <a:off x="4914831" y="1960228"/>
            <a:ext cx="1364721" cy="511771"/>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The Coca-Cola Company</a:t>
            </a:r>
            <a:endParaRPr lang="en-US" sz="900" dirty="0"/>
          </a:p>
        </p:txBody>
      </p:sp>
      <p:sp>
        <p:nvSpPr>
          <p:cNvPr id="13" name="Shape 11"/>
          <p:cNvSpPr/>
          <p:nvPr/>
        </p:nvSpPr>
        <p:spPr>
          <a:xfrm>
            <a:off x="365760" y="3097496"/>
            <a:ext cx="1364721" cy="511771"/>
          </a:xfrm>
          <a:prstGeom prst="rect">
            <a:avLst/>
          </a:prstGeom>
          <a:solidFill>
            <a:srgbClr val="B2F2BB"/>
          </a:solidFill>
          <a:ln w="12700">
            <a:solidFill>
              <a:srgbClr val="1E1E1E"/>
            </a:solidFill>
            <a:prstDash val="solid"/>
          </a:ln>
        </p:spPr>
      </p:sp>
      <p:sp>
        <p:nvSpPr>
          <p:cNvPr id="14" name="Text 12"/>
          <p:cNvSpPr txBox="1"/>
          <p:nvPr/>
        </p:nvSpPr>
        <p:spPr>
          <a:xfrm>
            <a:off x="365760" y="3097496"/>
            <a:ext cx="1364721" cy="511771"/>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Sales</a:t>
            </a:r>
            <a:endParaRPr lang="en-US" sz="900" dirty="0"/>
          </a:p>
        </p:txBody>
      </p:sp>
      <p:sp>
        <p:nvSpPr>
          <p:cNvPr id="15" name="Shape 13"/>
          <p:cNvSpPr/>
          <p:nvPr/>
        </p:nvSpPr>
        <p:spPr>
          <a:xfrm>
            <a:off x="4914831" y="3097496"/>
            <a:ext cx="1364721" cy="511771"/>
          </a:xfrm>
          <a:prstGeom prst="rect">
            <a:avLst/>
          </a:prstGeom>
          <a:solidFill>
            <a:srgbClr val="FFC9C9"/>
          </a:solidFill>
          <a:ln w="12700">
            <a:solidFill>
              <a:srgbClr val="1E1E1E"/>
            </a:solidFill>
            <a:prstDash val="solid"/>
          </a:ln>
        </p:spPr>
      </p:sp>
      <p:sp>
        <p:nvSpPr>
          <p:cNvPr id="16" name="Text 14"/>
          <p:cNvSpPr txBox="1"/>
          <p:nvPr/>
        </p:nvSpPr>
        <p:spPr>
          <a:xfrm>
            <a:off x="4914831" y="3097496"/>
            <a:ext cx="1364721" cy="511771"/>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WPP</a:t>
            </a:r>
            <a:endParaRPr lang="en-US" sz="900" dirty="0"/>
          </a:p>
        </p:txBody>
      </p:sp>
      <p:sp>
        <p:nvSpPr>
          <p:cNvPr id="17" name="Shape 15"/>
          <p:cNvSpPr/>
          <p:nvPr/>
        </p:nvSpPr>
        <p:spPr>
          <a:xfrm>
            <a:off x="7189367" y="3097496"/>
            <a:ext cx="1364721" cy="511771"/>
          </a:xfrm>
          <a:prstGeom prst="rect">
            <a:avLst/>
          </a:prstGeom>
          <a:solidFill>
            <a:srgbClr val="FFC9C9"/>
          </a:solidFill>
          <a:ln w="12700">
            <a:solidFill>
              <a:srgbClr val="1E1E1E"/>
            </a:solidFill>
            <a:prstDash val="solid"/>
          </a:ln>
        </p:spPr>
      </p:sp>
      <p:sp>
        <p:nvSpPr>
          <p:cNvPr id="18" name="Text 16"/>
          <p:cNvSpPr txBox="1"/>
          <p:nvPr/>
        </p:nvSpPr>
        <p:spPr>
          <a:xfrm>
            <a:off x="7189367" y="3097496"/>
            <a:ext cx="1364721" cy="511771"/>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Retail media teams</a:t>
            </a:r>
            <a:endParaRPr lang="en-US" sz="900" dirty="0"/>
          </a:p>
          <a:p>
            <a:pPr algn="ctr" indent="0" marL="0">
              <a:buNone/>
            </a:pPr>
            <a:r>
              <a:rPr lang="en-US" sz="900" b="1" dirty="0">
                <a:solidFill>
                  <a:srgbClr val="1E1E1E"/>
                </a:solidFill>
                <a:latin typeface="Calibri" pitchFamily="34" charset="0"/>
                <a:ea typeface="Calibri" pitchFamily="34" charset="-122"/>
                <a:cs typeface="Calibri" pitchFamily="34" charset="-120"/>
              </a:rPr>
              <a:t>at key retailers</a:t>
            </a:r>
            <a:endParaRPr lang="en-US" sz="900" dirty="0"/>
          </a:p>
        </p:txBody>
      </p:sp>
      <p:sp>
        <p:nvSpPr>
          <p:cNvPr id="19" name="Shape 17"/>
          <p:cNvSpPr/>
          <p:nvPr/>
        </p:nvSpPr>
        <p:spPr>
          <a:xfrm>
            <a:off x="365760" y="4234763"/>
            <a:ext cx="1364721" cy="511771"/>
          </a:xfrm>
          <a:prstGeom prst="rect">
            <a:avLst/>
          </a:prstGeom>
          <a:solidFill>
            <a:srgbClr val="B2F2BB"/>
          </a:solidFill>
          <a:ln w="12700">
            <a:solidFill>
              <a:srgbClr val="1E1E1E"/>
            </a:solidFill>
            <a:prstDash val="solid"/>
          </a:ln>
        </p:spPr>
      </p:sp>
      <p:sp>
        <p:nvSpPr>
          <p:cNvPr id="20" name="Text 18"/>
          <p:cNvSpPr txBox="1"/>
          <p:nvPr/>
        </p:nvSpPr>
        <p:spPr>
          <a:xfrm>
            <a:off x="365760" y="4234763"/>
            <a:ext cx="1364721" cy="511771"/>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Consumer Insights</a:t>
            </a:r>
            <a:endParaRPr lang="en-US" sz="900" dirty="0"/>
          </a:p>
        </p:txBody>
      </p:sp>
      <p:sp>
        <p:nvSpPr>
          <p:cNvPr id="21" name="Shape 19"/>
          <p:cNvSpPr/>
          <p:nvPr/>
        </p:nvSpPr>
        <p:spPr>
          <a:xfrm>
            <a:off x="2640296" y="4234763"/>
            <a:ext cx="1364721" cy="511771"/>
          </a:xfrm>
          <a:prstGeom prst="rect">
            <a:avLst/>
          </a:prstGeom>
          <a:solidFill>
            <a:srgbClr val="A5D8FF"/>
          </a:solidFill>
          <a:ln w="12700">
            <a:solidFill>
              <a:srgbClr val="1E1E1E"/>
            </a:solidFill>
            <a:prstDash val="solid"/>
          </a:ln>
        </p:spPr>
      </p:sp>
      <p:sp>
        <p:nvSpPr>
          <p:cNvPr id="22" name="Text 20"/>
          <p:cNvSpPr txBox="1"/>
          <p:nvPr/>
        </p:nvSpPr>
        <p:spPr>
          <a:xfrm>
            <a:off x="2640296" y="4234763"/>
            <a:ext cx="1364721" cy="511771"/>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Prof. Data Analyst</a:t>
            </a:r>
            <a:endParaRPr lang="en-US" sz="900" dirty="0"/>
          </a:p>
        </p:txBody>
      </p:sp>
      <p:sp>
        <p:nvSpPr>
          <p:cNvPr id="23" name="Shape 21"/>
          <p:cNvSpPr/>
          <p:nvPr/>
        </p:nvSpPr>
        <p:spPr>
          <a:xfrm>
            <a:off x="7189367" y="4234763"/>
            <a:ext cx="1364721" cy="511771"/>
          </a:xfrm>
          <a:prstGeom prst="rect">
            <a:avLst/>
          </a:prstGeom>
          <a:solidFill>
            <a:srgbClr val="A5D8FF"/>
          </a:solidFill>
          <a:ln w="12700">
            <a:solidFill>
              <a:srgbClr val="1E1E1E"/>
            </a:solidFill>
            <a:prstDash val="solid"/>
          </a:ln>
        </p:spPr>
      </p:sp>
      <p:sp>
        <p:nvSpPr>
          <p:cNvPr id="24" name="Text 22"/>
          <p:cNvSpPr txBox="1"/>
          <p:nvPr/>
        </p:nvSpPr>
        <p:spPr>
          <a:xfrm>
            <a:off x="7189367" y="4234763"/>
            <a:ext cx="1364721" cy="511771"/>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Shopper Marketeers</a:t>
            </a:r>
            <a:endParaRPr lang="en-US" sz="900" dirty="0"/>
          </a:p>
        </p:txBody>
      </p:sp>
      <p:sp>
        <p:nvSpPr>
          <p:cNvPr id="25" name="Shape 23"/>
          <p:cNvSpPr/>
          <p:nvPr/>
        </p:nvSpPr>
        <p:spPr>
          <a:xfrm>
            <a:off x="365760" y="5372031"/>
            <a:ext cx="1364721" cy="511771"/>
          </a:xfrm>
          <a:prstGeom prst="rect">
            <a:avLst/>
          </a:prstGeom>
          <a:solidFill>
            <a:srgbClr val="B2F2BB"/>
          </a:solidFill>
          <a:ln w="12700">
            <a:solidFill>
              <a:srgbClr val="1E1E1E"/>
            </a:solidFill>
            <a:prstDash val="solid"/>
          </a:ln>
        </p:spPr>
      </p:sp>
      <p:sp>
        <p:nvSpPr>
          <p:cNvPr id="26" name="Text 24"/>
          <p:cNvSpPr txBox="1"/>
          <p:nvPr/>
        </p:nvSpPr>
        <p:spPr>
          <a:xfrm>
            <a:off x="365760" y="5372031"/>
            <a:ext cx="1364721" cy="511771"/>
          </a:xfrm>
          <a:prstGeom prst="rect">
            <a:avLst/>
          </a:prstGeom>
          <a:noFill/>
          <a:ln/>
        </p:spPr>
        <p:txBody>
          <a:bodyPr wrap="square" lIns="25400" tIns="25400" rIns="25400" bIns="25400" rtlCol="0" anchor="ctr"/>
          <a:lstStyle/>
          <a:p>
            <a:pPr algn="ctr" indent="0" marL="0">
              <a:buNone/>
            </a:pPr>
            <a:r>
              <a:rPr lang="en-US" sz="900" b="1" dirty="0">
                <a:solidFill>
                  <a:srgbClr val="1E1E1E"/>
                </a:solidFill>
                <a:latin typeface="Calibri" pitchFamily="34" charset="0"/>
                <a:ea typeface="Calibri" pitchFamily="34" charset="-122"/>
                <a:cs typeface="Calibri" pitchFamily="34" charset="-120"/>
              </a:rPr>
              <a:t>Commercial Insights</a:t>
            </a:r>
            <a:endParaRPr lang="en-US" sz="900" dirty="0"/>
          </a:p>
        </p:txBody>
      </p:sp>
      <p:sp>
        <p:nvSpPr>
          <p:cNvPr id="27" name="Shape 25"/>
          <p:cNvSpPr/>
          <p:nvPr/>
        </p:nvSpPr>
        <p:spPr>
          <a:xfrm>
            <a:off x="1730481" y="2216113"/>
            <a:ext cx="909814" cy="9144"/>
          </a:xfrm>
          <a:prstGeom prst="line">
            <a:avLst/>
          </a:prstGeom>
          <a:noFill/>
          <a:ln w="19050">
            <a:solidFill>
              <a:srgbClr val="1E1E1E"/>
            </a:solidFill>
            <a:prstDash val="solid"/>
            <a:headEnd type="none"/>
            <a:tailEnd type="none"/>
          </a:ln>
        </p:spPr>
      </p:sp>
      <p:sp>
        <p:nvSpPr>
          <p:cNvPr id="28" name="Shape 26"/>
          <p:cNvSpPr/>
          <p:nvPr/>
        </p:nvSpPr>
        <p:spPr>
          <a:xfrm flipV="1">
            <a:off x="1730481" y="2386703"/>
            <a:ext cx="909814" cy="881383"/>
          </a:xfrm>
          <a:prstGeom prst="line">
            <a:avLst/>
          </a:prstGeom>
          <a:noFill/>
          <a:ln w="19050">
            <a:solidFill>
              <a:srgbClr val="1E1E1E"/>
            </a:solidFill>
            <a:prstDash val="solid"/>
            <a:headEnd type="none"/>
            <a:tailEnd type="none"/>
          </a:ln>
        </p:spPr>
      </p:sp>
      <p:sp>
        <p:nvSpPr>
          <p:cNvPr id="29" name="Shape 27"/>
          <p:cNvSpPr/>
          <p:nvPr/>
        </p:nvSpPr>
        <p:spPr>
          <a:xfrm flipV="1">
            <a:off x="3322656" y="1346103"/>
            <a:ext cx="9144" cy="602752"/>
          </a:xfrm>
          <a:prstGeom prst="line">
            <a:avLst/>
          </a:prstGeom>
          <a:noFill/>
          <a:ln w="19050">
            <a:solidFill>
              <a:srgbClr val="E03131"/>
            </a:solidFill>
            <a:prstDash val="dash"/>
            <a:headEnd type="none"/>
            <a:tailEnd type="arrow"/>
          </a:ln>
        </p:spPr>
      </p:sp>
      <p:sp>
        <p:nvSpPr>
          <p:cNvPr id="30" name="Shape 28"/>
          <p:cNvSpPr/>
          <p:nvPr/>
        </p:nvSpPr>
        <p:spPr>
          <a:xfrm>
            <a:off x="4016390" y="1021982"/>
            <a:ext cx="887069" cy="9144"/>
          </a:xfrm>
          <a:prstGeom prst="line">
            <a:avLst/>
          </a:prstGeom>
          <a:noFill/>
          <a:ln w="19050">
            <a:solidFill>
              <a:srgbClr val="E03131"/>
            </a:solidFill>
            <a:prstDash val="dash"/>
            <a:headEnd type="none"/>
            <a:tailEnd type="arrow"/>
          </a:ln>
        </p:spPr>
      </p:sp>
      <p:sp>
        <p:nvSpPr>
          <p:cNvPr id="31" name="Shape 29"/>
          <p:cNvSpPr/>
          <p:nvPr/>
        </p:nvSpPr>
        <p:spPr>
          <a:xfrm flipH="1" flipV="1">
            <a:off x="4016390" y="2255917"/>
            <a:ext cx="887069" cy="858637"/>
          </a:xfrm>
          <a:prstGeom prst="line">
            <a:avLst/>
          </a:prstGeom>
          <a:noFill/>
          <a:ln w="19050">
            <a:solidFill>
              <a:srgbClr val="2F9E44"/>
            </a:solidFill>
            <a:prstDash val="solid"/>
            <a:headEnd type="none"/>
            <a:tailEnd type="arrow"/>
          </a:ln>
        </p:spPr>
      </p:sp>
      <p:sp>
        <p:nvSpPr>
          <p:cNvPr id="32" name="Shape 30"/>
          <p:cNvSpPr/>
          <p:nvPr/>
        </p:nvSpPr>
        <p:spPr>
          <a:xfrm>
            <a:off x="7871728" y="3620639"/>
            <a:ext cx="9144" cy="602752"/>
          </a:xfrm>
          <a:prstGeom prst="line">
            <a:avLst/>
          </a:prstGeom>
          <a:noFill/>
          <a:ln w="19050">
            <a:solidFill>
              <a:srgbClr val="1E1E1E"/>
            </a:solidFill>
            <a:prstDash val="solid"/>
            <a:headEnd type="arrow"/>
            <a:tailEnd type="arrow"/>
          </a:ln>
        </p:spPr>
      </p:sp>
      <p:sp>
        <p:nvSpPr>
          <p:cNvPr id="33" name="Shape 31"/>
          <p:cNvSpPr/>
          <p:nvPr/>
        </p:nvSpPr>
        <p:spPr>
          <a:xfrm flipH="1" flipV="1">
            <a:off x="6290925" y="3563775"/>
            <a:ext cx="887069" cy="773342"/>
          </a:xfrm>
          <a:prstGeom prst="line">
            <a:avLst/>
          </a:prstGeom>
          <a:noFill/>
          <a:ln w="19050">
            <a:solidFill>
              <a:srgbClr val="1971C2"/>
            </a:solidFill>
            <a:prstDash val="solid"/>
            <a:headEnd type="none"/>
            <a:tailEnd type="arrow"/>
          </a:ln>
        </p:spPr>
      </p:sp>
      <p:sp>
        <p:nvSpPr>
          <p:cNvPr id="34" name="Text 32"/>
          <p:cNvSpPr txBox="1"/>
          <p:nvPr/>
        </p:nvSpPr>
        <p:spPr>
          <a:xfrm>
            <a:off x="6261083" y="3809334"/>
            <a:ext cx="983329" cy="282226"/>
          </a:xfrm>
          <a:prstGeom prst="rect">
            <a:avLst/>
          </a:prstGeom>
          <a:solidFill>
            <a:srgbClr val="FFFFFF"/>
          </a:solidFill>
          <a:ln/>
        </p:spPr>
        <p:txBody>
          <a:bodyPr wrap="square" lIns="0" tIns="0" rIns="0" bIns="0" rtlCol="0" anchor="ctr"/>
          <a:lstStyle/>
          <a:p>
            <a:pPr algn="ctr" indent="0" marL="0">
              <a:buNone/>
            </a:pPr>
            <a:r>
              <a:rPr lang="en-US" sz="750" dirty="0">
                <a:solidFill>
                  <a:srgbClr val="1971C2"/>
                </a:solidFill>
                <a:latin typeface="Calibri" pitchFamily="34" charset="0"/>
                <a:ea typeface="Calibri" pitchFamily="34" charset="-122"/>
                <a:cs typeface="Calibri" pitchFamily="34" charset="-120"/>
              </a:rPr>
              <a:t>Budget, spend ceiling,</a:t>
            </a:r>
            <a:endParaRPr lang="en-US" sz="750" dirty="0"/>
          </a:p>
          <a:p>
            <a:pPr algn="ctr" indent="0" marL="0">
              <a:buNone/>
            </a:pPr>
            <a:r>
              <a:rPr lang="en-US" sz="750" dirty="0">
                <a:solidFill>
                  <a:srgbClr val="1971C2"/>
                </a:solidFill>
                <a:latin typeface="Calibri" pitchFamily="34" charset="0"/>
                <a:ea typeface="Calibri" pitchFamily="34" charset="-122"/>
                <a:cs typeface="Calibri" pitchFamily="34" charset="-120"/>
              </a:rPr>
              <a:t>priorities</a:t>
            </a:r>
            <a:endParaRPr lang="en-US" sz="750" dirty="0"/>
          </a:p>
        </p:txBody>
      </p:sp>
      <p:sp>
        <p:nvSpPr>
          <p:cNvPr id="35" name="Shape 33"/>
          <p:cNvSpPr/>
          <p:nvPr/>
        </p:nvSpPr>
        <p:spPr>
          <a:xfrm>
            <a:off x="7189367" y="993550"/>
            <a:ext cx="284317" cy="9144"/>
          </a:xfrm>
          <a:prstGeom prst="line">
            <a:avLst/>
          </a:prstGeom>
          <a:noFill/>
          <a:ln w="19050">
            <a:solidFill>
              <a:srgbClr val="1E1E1E"/>
            </a:solidFill>
            <a:prstDash val="solid"/>
            <a:headEnd type="none"/>
            <a:tailEnd type="none"/>
          </a:ln>
        </p:spPr>
      </p:sp>
      <p:sp>
        <p:nvSpPr>
          <p:cNvPr id="36" name="Shape 34"/>
          <p:cNvSpPr/>
          <p:nvPr/>
        </p:nvSpPr>
        <p:spPr>
          <a:xfrm>
            <a:off x="7189367" y="1152768"/>
            <a:ext cx="284317" cy="9144"/>
          </a:xfrm>
          <a:prstGeom prst="line">
            <a:avLst/>
          </a:prstGeom>
          <a:noFill/>
          <a:ln w="19050">
            <a:solidFill>
              <a:srgbClr val="1971C2"/>
            </a:solidFill>
            <a:prstDash val="solid"/>
            <a:headEnd type="none"/>
            <a:tailEnd type="none"/>
          </a:ln>
        </p:spPr>
      </p:sp>
      <p:sp>
        <p:nvSpPr>
          <p:cNvPr id="37" name="Shape 35"/>
          <p:cNvSpPr/>
          <p:nvPr/>
        </p:nvSpPr>
        <p:spPr>
          <a:xfrm>
            <a:off x="7189367" y="1311985"/>
            <a:ext cx="284317" cy="9144"/>
          </a:xfrm>
          <a:prstGeom prst="line">
            <a:avLst/>
          </a:prstGeom>
          <a:noFill/>
          <a:ln w="19050">
            <a:solidFill>
              <a:srgbClr val="2F9E44"/>
            </a:solidFill>
            <a:prstDash val="solid"/>
            <a:headEnd type="none"/>
            <a:tailEnd type="none"/>
          </a:ln>
        </p:spPr>
      </p:sp>
      <p:sp>
        <p:nvSpPr>
          <p:cNvPr id="38" name="Shape 36"/>
          <p:cNvSpPr/>
          <p:nvPr/>
        </p:nvSpPr>
        <p:spPr>
          <a:xfrm>
            <a:off x="7189367" y="1471203"/>
            <a:ext cx="284317" cy="9144"/>
          </a:xfrm>
          <a:prstGeom prst="line">
            <a:avLst/>
          </a:prstGeom>
          <a:noFill/>
          <a:ln w="19050">
            <a:solidFill>
              <a:srgbClr val="E03131"/>
            </a:solidFill>
            <a:prstDash val="dash"/>
            <a:headEnd type="none"/>
            <a:tailEnd type="none"/>
          </a:ln>
        </p:spPr>
      </p:sp>
      <p:sp>
        <p:nvSpPr>
          <p:cNvPr id="39" name="Shape 37"/>
          <p:cNvSpPr/>
          <p:nvPr/>
        </p:nvSpPr>
        <p:spPr>
          <a:xfrm flipH="1">
            <a:off x="5597192" y="3609266"/>
            <a:ext cx="9144" cy="881383"/>
          </a:xfrm>
          <a:prstGeom prst="line">
            <a:avLst/>
          </a:prstGeom>
          <a:noFill/>
          <a:ln w="19050">
            <a:solidFill>
              <a:srgbClr val="2F9E44"/>
            </a:solidFill>
            <a:prstDash val="solid"/>
            <a:headEnd type="none"/>
            <a:tailEnd type="none"/>
          </a:ln>
        </p:spPr>
      </p:sp>
      <p:sp>
        <p:nvSpPr>
          <p:cNvPr id="40" name="Shape 38"/>
          <p:cNvSpPr/>
          <p:nvPr/>
        </p:nvSpPr>
        <p:spPr>
          <a:xfrm>
            <a:off x="5597192" y="4490649"/>
            <a:ext cx="1583645" cy="9144"/>
          </a:xfrm>
          <a:prstGeom prst="line">
            <a:avLst/>
          </a:prstGeom>
          <a:noFill/>
          <a:ln w="19050">
            <a:solidFill>
              <a:srgbClr val="2F9E44"/>
            </a:solidFill>
            <a:prstDash val="solid"/>
            <a:headEnd type="none"/>
            <a:tailEnd type="arrow"/>
          </a:ln>
        </p:spPr>
      </p:sp>
      <p:sp>
        <p:nvSpPr>
          <p:cNvPr id="41" name="Text 39"/>
          <p:cNvSpPr txBox="1"/>
          <p:nvPr/>
        </p:nvSpPr>
        <p:spPr>
          <a:xfrm>
            <a:off x="5210247" y="4349536"/>
            <a:ext cx="810465" cy="282226"/>
          </a:xfrm>
          <a:prstGeom prst="rect">
            <a:avLst/>
          </a:prstGeom>
          <a:solidFill>
            <a:srgbClr val="FFFFFF"/>
          </a:solidFill>
          <a:ln/>
        </p:spPr>
        <p:txBody>
          <a:bodyPr wrap="square" lIns="0" tIns="0" rIns="0" bIns="0" rtlCol="0" anchor="ctr"/>
          <a:lstStyle/>
          <a:p>
            <a:pPr algn="ctr" indent="0" marL="0">
              <a:buNone/>
            </a:pPr>
            <a:r>
              <a:rPr lang="en-US" sz="750" dirty="0">
                <a:solidFill>
                  <a:srgbClr val="2F9E44"/>
                </a:solidFill>
                <a:latin typeface="Calibri" pitchFamily="34" charset="0"/>
                <a:ea typeface="Calibri" pitchFamily="34" charset="-122"/>
                <a:cs typeface="Calibri" pitchFamily="34" charset="-120"/>
              </a:rPr>
              <a:t>Campaign reports (SharePoint)</a:t>
            </a:r>
            <a:endParaRPr lang="en-US" sz="750" dirty="0"/>
          </a:p>
        </p:txBody>
      </p:sp>
      <p:sp>
        <p:nvSpPr>
          <p:cNvPr id="42" name="Shape 40"/>
          <p:cNvSpPr/>
          <p:nvPr/>
        </p:nvSpPr>
        <p:spPr>
          <a:xfrm>
            <a:off x="1736168" y="4519080"/>
            <a:ext cx="898442" cy="9144"/>
          </a:xfrm>
          <a:prstGeom prst="line">
            <a:avLst/>
          </a:prstGeom>
          <a:noFill/>
          <a:ln w="28575">
            <a:solidFill>
              <a:srgbClr val="2F9E44"/>
            </a:solidFill>
            <a:prstDash val="solid"/>
            <a:headEnd type="none"/>
            <a:tailEnd type="triangle"/>
          </a:ln>
        </p:spPr>
      </p:sp>
      <p:sp>
        <p:nvSpPr>
          <p:cNvPr id="43" name="Shape 41"/>
          <p:cNvSpPr/>
          <p:nvPr/>
        </p:nvSpPr>
        <p:spPr>
          <a:xfrm flipV="1">
            <a:off x="1736168" y="4752220"/>
            <a:ext cx="898442" cy="870010"/>
          </a:xfrm>
          <a:prstGeom prst="line">
            <a:avLst/>
          </a:prstGeom>
          <a:noFill/>
          <a:ln w="28575">
            <a:solidFill>
              <a:srgbClr val="2F9E44"/>
            </a:solidFill>
            <a:prstDash val="solid"/>
            <a:headEnd type="none"/>
            <a:tailEnd type="triangle"/>
          </a:ln>
        </p:spPr>
      </p:sp>
      <p:sp>
        <p:nvSpPr>
          <p:cNvPr id="44" name="Text 42"/>
          <p:cNvSpPr txBox="1"/>
          <p:nvPr/>
        </p:nvSpPr>
        <p:spPr>
          <a:xfrm>
            <a:off x="1896022" y="5046112"/>
            <a:ext cx="615310" cy="282226"/>
          </a:xfrm>
          <a:prstGeom prst="rect">
            <a:avLst/>
          </a:prstGeom>
          <a:solidFill>
            <a:srgbClr val="FFFFFF"/>
          </a:solidFill>
          <a:ln/>
        </p:spPr>
        <p:txBody>
          <a:bodyPr wrap="square" lIns="0" tIns="0" rIns="0" bIns="0" rtlCol="0" anchor="ctr"/>
          <a:lstStyle/>
          <a:p>
            <a:pPr algn="ctr" indent="0" marL="0">
              <a:buNone/>
            </a:pPr>
            <a:r>
              <a:rPr lang="en-US" sz="750" dirty="0">
                <a:solidFill>
                  <a:srgbClr val="2F9E44"/>
                </a:solidFill>
                <a:latin typeface="Calibri" pitchFamily="34" charset="0"/>
                <a:ea typeface="Calibri" pitchFamily="34" charset="-122"/>
                <a:cs typeface="Calibri" pitchFamily="34" charset="-120"/>
              </a:rPr>
              <a:t>Market data</a:t>
            </a:r>
            <a:endParaRPr lang="en-US" sz="750" dirty="0"/>
          </a:p>
          <a:p>
            <a:pPr algn="ctr" indent="0" marL="0">
              <a:buNone/>
            </a:pPr>
            <a:r>
              <a:rPr lang="en-US" sz="750" dirty="0">
                <a:solidFill>
                  <a:srgbClr val="2F9E44"/>
                </a:solidFill>
                <a:latin typeface="Calibri" pitchFamily="34" charset="0"/>
                <a:ea typeface="Calibri" pitchFamily="34" charset="-122"/>
                <a:cs typeface="Calibri" pitchFamily="34" charset="-120"/>
              </a:rPr>
              <a:t>and analytics</a:t>
            </a:r>
            <a:endParaRPr lang="en-US" sz="750" dirty="0"/>
          </a:p>
        </p:txBody>
      </p:sp>
      <p:sp>
        <p:nvSpPr>
          <p:cNvPr id="45" name="Shape 43"/>
          <p:cNvSpPr/>
          <p:nvPr/>
        </p:nvSpPr>
        <p:spPr>
          <a:xfrm>
            <a:off x="6285239" y="3268086"/>
            <a:ext cx="898442" cy="9144"/>
          </a:xfrm>
          <a:prstGeom prst="line">
            <a:avLst/>
          </a:prstGeom>
          <a:noFill/>
          <a:ln w="28575">
            <a:solidFill>
              <a:srgbClr val="1E1E1E"/>
            </a:solidFill>
            <a:prstDash val="solid"/>
            <a:headEnd type="none"/>
            <a:tailEnd type="triangle"/>
          </a:ln>
        </p:spPr>
      </p:sp>
      <p:sp>
        <p:nvSpPr>
          <p:cNvPr id="46" name="Shape 44"/>
          <p:cNvSpPr/>
          <p:nvPr/>
        </p:nvSpPr>
        <p:spPr>
          <a:xfrm flipH="1">
            <a:off x="6285239" y="3467108"/>
            <a:ext cx="898442" cy="9144"/>
          </a:xfrm>
          <a:prstGeom prst="line">
            <a:avLst/>
          </a:prstGeom>
          <a:noFill/>
          <a:ln w="28575">
            <a:solidFill>
              <a:srgbClr val="2F9E44"/>
            </a:solidFill>
            <a:prstDash val="solid"/>
            <a:headEnd type="none"/>
            <a:tailEnd type="triangle"/>
          </a:ln>
        </p:spPr>
      </p:sp>
      <p:sp>
        <p:nvSpPr>
          <p:cNvPr id="47" name="Shape 45"/>
          <p:cNvSpPr/>
          <p:nvPr/>
        </p:nvSpPr>
        <p:spPr>
          <a:xfrm>
            <a:off x="4004727" y="1335216"/>
            <a:ext cx="668467" cy="295056"/>
          </a:xfrm>
          <a:prstGeom prst="line">
            <a:avLst/>
          </a:prstGeom>
          <a:noFill/>
          <a:ln w="19050">
            <a:solidFill>
              <a:srgbClr val="1971C2"/>
            </a:solidFill>
            <a:prstDash val="solid"/>
            <a:headEnd type="none"/>
            <a:tailEnd type="none"/>
          </a:ln>
        </p:spPr>
      </p:sp>
      <p:sp>
        <p:nvSpPr>
          <p:cNvPr id="48" name="Shape 46"/>
          <p:cNvSpPr/>
          <p:nvPr/>
        </p:nvSpPr>
        <p:spPr>
          <a:xfrm flipH="1">
            <a:off x="4786672" y="1276123"/>
            <a:ext cx="132419" cy="299455"/>
          </a:xfrm>
          <a:prstGeom prst="line">
            <a:avLst/>
          </a:prstGeom>
          <a:noFill/>
          <a:ln w="19050">
            <a:solidFill>
              <a:srgbClr val="1971C2"/>
            </a:solidFill>
            <a:prstDash val="solid"/>
            <a:headEnd type="none"/>
            <a:tailEnd type="none"/>
          </a:ln>
        </p:spPr>
      </p:sp>
      <p:sp>
        <p:nvSpPr>
          <p:cNvPr id="49" name="Shape 47"/>
          <p:cNvSpPr/>
          <p:nvPr/>
        </p:nvSpPr>
        <p:spPr>
          <a:xfrm flipV="1">
            <a:off x="4015066" y="1741186"/>
            <a:ext cx="658843" cy="225624"/>
          </a:xfrm>
          <a:prstGeom prst="line">
            <a:avLst/>
          </a:prstGeom>
          <a:noFill/>
          <a:ln w="19050">
            <a:solidFill>
              <a:srgbClr val="1971C2"/>
            </a:solidFill>
            <a:prstDash val="solid"/>
            <a:headEnd type="none"/>
            <a:tailEnd type="none"/>
          </a:ln>
        </p:spPr>
      </p:sp>
      <p:sp>
        <p:nvSpPr>
          <p:cNvPr id="50" name="Shape 48"/>
          <p:cNvSpPr/>
          <p:nvPr/>
        </p:nvSpPr>
        <p:spPr>
          <a:xfrm>
            <a:off x="3356614" y="2463537"/>
            <a:ext cx="21853" cy="486914"/>
          </a:xfrm>
          <a:prstGeom prst="line">
            <a:avLst/>
          </a:prstGeom>
          <a:noFill/>
          <a:ln w="19050">
            <a:solidFill>
              <a:srgbClr val="1971C2"/>
            </a:solidFill>
            <a:prstDash val="solid"/>
            <a:headEnd type="none"/>
            <a:tailEnd type="none"/>
          </a:ln>
        </p:spPr>
      </p:sp>
      <p:sp>
        <p:nvSpPr>
          <p:cNvPr id="51" name="Shape 49"/>
          <p:cNvSpPr/>
          <p:nvPr/>
        </p:nvSpPr>
        <p:spPr>
          <a:xfrm flipH="1" flipV="1">
            <a:off x="3389049" y="3612166"/>
            <a:ext cx="14622" cy="653490"/>
          </a:xfrm>
          <a:prstGeom prst="line">
            <a:avLst/>
          </a:prstGeom>
          <a:noFill/>
          <a:ln w="19050">
            <a:solidFill>
              <a:srgbClr val="1971C2"/>
            </a:solidFill>
            <a:prstDash val="solid"/>
            <a:headEnd type="none"/>
            <a:tailEnd type="none"/>
          </a:ln>
        </p:spPr>
      </p:sp>
      <p:sp>
        <p:nvSpPr>
          <p:cNvPr id="52" name="Shape 50"/>
          <p:cNvSpPr/>
          <p:nvPr/>
        </p:nvSpPr>
        <p:spPr>
          <a:xfrm>
            <a:off x="4365880" y="3264939"/>
            <a:ext cx="413780" cy="12551"/>
          </a:xfrm>
          <a:prstGeom prst="line">
            <a:avLst/>
          </a:prstGeom>
          <a:noFill/>
          <a:ln w="19050">
            <a:solidFill>
              <a:srgbClr val="1971C2"/>
            </a:solidFill>
            <a:prstDash val="solid"/>
            <a:headEnd type="none"/>
            <a:tailEnd type="arrow"/>
          </a:ln>
        </p:spPr>
      </p:sp>
      <p:sp>
        <p:nvSpPr>
          <p:cNvPr id="53" name="Shape 51"/>
          <p:cNvSpPr/>
          <p:nvPr/>
        </p:nvSpPr>
        <p:spPr>
          <a:xfrm>
            <a:off x="5554918" y="2481631"/>
            <a:ext cx="9144" cy="602752"/>
          </a:xfrm>
          <a:prstGeom prst="line">
            <a:avLst/>
          </a:prstGeom>
          <a:noFill/>
          <a:ln w="19050">
            <a:solidFill>
              <a:srgbClr val="1971C2"/>
            </a:solidFill>
            <a:prstDash val="solid"/>
            <a:headEnd type="arrow"/>
            <a:tailEnd type="arrow"/>
          </a:ln>
        </p:spPr>
      </p:sp>
      <p:sp>
        <p:nvSpPr>
          <p:cNvPr id="54" name="Text 52"/>
          <p:cNvSpPr txBox="1"/>
          <p:nvPr/>
        </p:nvSpPr>
        <p:spPr>
          <a:xfrm>
            <a:off x="1775972" y="4257509"/>
            <a:ext cx="887941" cy="254726"/>
          </a:xfrm>
          <a:prstGeom prst="rect">
            <a:avLst/>
          </a:prstGeom>
          <a:noFill/>
          <a:ln/>
        </p:spPr>
        <p:txBody>
          <a:bodyPr wrap="square" lIns="0" tIns="0" rIns="0" bIns="0" rtlCol="0" anchor="t"/>
          <a:lstStyle/>
          <a:p>
            <a:pPr algn="l" indent="0" marL="0">
              <a:buNone/>
            </a:pPr>
            <a:r>
              <a:rPr lang="en-US" sz="750" dirty="0">
                <a:solidFill>
                  <a:srgbClr val="2F9E44"/>
                </a:solidFill>
                <a:latin typeface="Calibri" pitchFamily="34" charset="0"/>
                <a:ea typeface="Calibri" pitchFamily="34" charset="-122"/>
                <a:cs typeface="Calibri" pitchFamily="34" charset="-120"/>
              </a:rPr>
              <a:t>Targeting, segments,</a:t>
            </a:r>
            <a:endParaRPr lang="en-US" sz="750" dirty="0"/>
          </a:p>
          <a:p>
            <a:pPr algn="l" indent="0" marL="0">
              <a:buNone/>
            </a:pPr>
            <a:r>
              <a:rPr lang="en-US" sz="750" dirty="0">
                <a:solidFill>
                  <a:srgbClr val="2F9E44"/>
                </a:solidFill>
                <a:latin typeface="Calibri" pitchFamily="34" charset="0"/>
                <a:ea typeface="Calibri" pitchFamily="34" charset="-122"/>
                <a:cs typeface="Calibri" pitchFamily="34" charset="-120"/>
              </a:rPr>
              <a:t>panel research</a:t>
            </a:r>
            <a:endParaRPr lang="en-US" sz="750" dirty="0"/>
          </a:p>
        </p:txBody>
      </p:sp>
      <p:sp>
        <p:nvSpPr>
          <p:cNvPr id="55" name="Text 53"/>
          <p:cNvSpPr txBox="1"/>
          <p:nvPr/>
        </p:nvSpPr>
        <p:spPr>
          <a:xfrm>
            <a:off x="6381907" y="3114555"/>
            <a:ext cx="807696" cy="136507"/>
          </a:xfrm>
          <a:prstGeom prst="rect">
            <a:avLst/>
          </a:prstGeom>
          <a:noFill/>
          <a:ln/>
        </p:spPr>
        <p:txBody>
          <a:bodyPr wrap="square" lIns="0" tIns="0" rIns="0" bIns="0" rtlCol="0" anchor="t"/>
          <a:lstStyle/>
          <a:p>
            <a:pPr algn="l" indent="0" marL="0">
              <a:buNone/>
            </a:pPr>
            <a:r>
              <a:rPr lang="en-US" sz="750" dirty="0">
                <a:solidFill>
                  <a:srgbClr val="1E1E1E"/>
                </a:solidFill>
                <a:latin typeface="Calibri" pitchFamily="34" charset="0"/>
                <a:ea typeface="Calibri" pitchFamily="34" charset="-122"/>
                <a:cs typeface="Calibri" pitchFamily="34" charset="-120"/>
              </a:rPr>
              <a:t>Leads negotiations</a:t>
            </a:r>
            <a:endParaRPr lang="en-US" sz="750" dirty="0"/>
          </a:p>
        </p:txBody>
      </p:sp>
      <p:sp>
        <p:nvSpPr>
          <p:cNvPr id="56" name="Text 54"/>
          <p:cNvSpPr txBox="1"/>
          <p:nvPr/>
        </p:nvSpPr>
        <p:spPr>
          <a:xfrm>
            <a:off x="6347789" y="3495539"/>
            <a:ext cx="826598" cy="136507"/>
          </a:xfrm>
          <a:prstGeom prst="rect">
            <a:avLst/>
          </a:prstGeom>
          <a:noFill/>
          <a:ln/>
        </p:spPr>
        <p:txBody>
          <a:bodyPr wrap="square" lIns="0" tIns="0" rIns="0" bIns="0" rtlCol="0" anchor="t"/>
          <a:lstStyle/>
          <a:p>
            <a:pPr algn="l" indent="0" marL="0">
              <a:buNone/>
            </a:pPr>
            <a:r>
              <a:rPr lang="en-US" sz="750" dirty="0">
                <a:solidFill>
                  <a:srgbClr val="2F9E44"/>
                </a:solidFill>
                <a:latin typeface="Calibri" pitchFamily="34" charset="0"/>
                <a:ea typeface="Calibri" pitchFamily="34" charset="-122"/>
                <a:cs typeface="Calibri" pitchFamily="34" charset="-120"/>
              </a:rPr>
              <a:t>Evaluations (direct)</a:t>
            </a:r>
            <a:endParaRPr lang="en-US" sz="750" dirty="0"/>
          </a:p>
        </p:txBody>
      </p:sp>
      <p:sp>
        <p:nvSpPr>
          <p:cNvPr id="57" name="Text 55"/>
          <p:cNvSpPr txBox="1"/>
          <p:nvPr/>
        </p:nvSpPr>
        <p:spPr>
          <a:xfrm>
            <a:off x="4232471" y="1988659"/>
            <a:ext cx="726406" cy="288503"/>
          </a:xfrm>
          <a:prstGeom prst="rect">
            <a:avLst/>
          </a:prstGeom>
          <a:noFill/>
          <a:ln/>
        </p:spPr>
        <p:txBody>
          <a:bodyPr wrap="square" lIns="0" tIns="0" rIns="0" bIns="0" rtlCol="0" anchor="t"/>
          <a:lstStyle/>
          <a:p>
            <a:pPr algn="l" indent="0" marL="0">
              <a:buNone/>
            </a:pPr>
            <a:r>
              <a:rPr lang="en-US" sz="750" dirty="0">
                <a:solidFill>
                  <a:srgbClr val="2F9E44"/>
                </a:solidFill>
                <a:latin typeface="Calibri" pitchFamily="34" charset="0"/>
                <a:ea typeface="Calibri" pitchFamily="34" charset="-122"/>
                <a:cs typeface="Calibri" pitchFamily="34" charset="-120"/>
              </a:rPr>
              <a:t>Quarterly total</a:t>
            </a:r>
            <a:endParaRPr lang="en-US" sz="750" dirty="0"/>
          </a:p>
          <a:p>
            <a:pPr algn="l" indent="0" marL="0">
              <a:buNone/>
            </a:pPr>
            <a:r>
              <a:rPr lang="en-US" sz="750" dirty="0">
                <a:solidFill>
                  <a:srgbClr val="2F9E44"/>
                </a:solidFill>
                <a:latin typeface="Calibri" pitchFamily="34" charset="0"/>
                <a:ea typeface="Calibri" pitchFamily="34" charset="-122"/>
                <a:cs typeface="Calibri" pitchFamily="34" charset="-120"/>
              </a:rPr>
              <a:t>overview</a:t>
            </a:r>
            <a:endParaRPr lang="en-US" sz="750" dirty="0"/>
          </a:p>
        </p:txBody>
      </p:sp>
      <p:sp>
        <p:nvSpPr>
          <p:cNvPr id="58" name="Text 56"/>
          <p:cNvSpPr txBox="1"/>
          <p:nvPr/>
        </p:nvSpPr>
        <p:spPr>
          <a:xfrm>
            <a:off x="1787345" y="1948855"/>
            <a:ext cx="911251" cy="288503"/>
          </a:xfrm>
          <a:prstGeom prst="rect">
            <a:avLst/>
          </a:prstGeom>
          <a:noFill/>
          <a:ln/>
        </p:spPr>
        <p:txBody>
          <a:bodyPr wrap="square" lIns="0" tIns="0" rIns="0" bIns="0" rtlCol="0" anchor="t"/>
          <a:lstStyle/>
          <a:p>
            <a:pPr algn="l" indent="0" marL="0">
              <a:buNone/>
            </a:pPr>
            <a:r>
              <a:rPr lang="en-US" sz="750" dirty="0">
                <a:solidFill>
                  <a:srgbClr val="1E1E1E"/>
                </a:solidFill>
                <a:latin typeface="Calibri" pitchFamily="34" charset="0"/>
                <a:ea typeface="Calibri" pitchFamily="34" charset="-122"/>
                <a:cs typeface="Calibri" pitchFamily="34" charset="-120"/>
              </a:rPr>
              <a:t>Internal priorities</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and budget are set</a:t>
            </a:r>
            <a:endParaRPr lang="en-US" sz="750" dirty="0"/>
          </a:p>
        </p:txBody>
      </p:sp>
      <p:sp>
        <p:nvSpPr>
          <p:cNvPr id="59" name="Text 57"/>
          <p:cNvSpPr txBox="1"/>
          <p:nvPr/>
        </p:nvSpPr>
        <p:spPr>
          <a:xfrm>
            <a:off x="1787345" y="1448457"/>
            <a:ext cx="1564628" cy="288503"/>
          </a:xfrm>
          <a:prstGeom prst="rect">
            <a:avLst/>
          </a:prstGeom>
          <a:noFill/>
          <a:ln/>
        </p:spPr>
        <p:txBody>
          <a:bodyPr wrap="square" lIns="0" tIns="0" rIns="0" bIns="0" rtlCol="0" anchor="t"/>
          <a:lstStyle/>
          <a:p>
            <a:pPr algn="l" indent="0" marL="0">
              <a:buNone/>
            </a:pPr>
            <a:r>
              <a:rPr lang="en-US" sz="750" dirty="0">
                <a:solidFill>
                  <a:srgbClr val="E03131"/>
                </a:solidFill>
                <a:latin typeface="Calibri" pitchFamily="34" charset="0"/>
                <a:ea typeface="Calibri" pitchFamily="34" charset="-122"/>
                <a:cs typeface="Calibri" pitchFamily="34" charset="-120"/>
              </a:rPr>
              <a:t>Escalation: unfavourable retailer</a:t>
            </a:r>
            <a:endParaRPr lang="en-US" sz="750" dirty="0"/>
          </a:p>
          <a:p>
            <a:pPr algn="l" indent="0" marL="0">
              <a:buNone/>
            </a:pPr>
            <a:r>
              <a:rPr lang="en-US" sz="750" dirty="0">
                <a:solidFill>
                  <a:srgbClr val="E03131"/>
                </a:solidFill>
                <a:latin typeface="Calibri" pitchFamily="34" charset="0"/>
                <a:ea typeface="Calibri" pitchFamily="34" charset="-122"/>
                <a:cs typeface="Calibri" pitchFamily="34" charset="-120"/>
              </a:rPr>
              <a:t>actions or dead-end negotiations</a:t>
            </a:r>
            <a:endParaRPr lang="en-US" sz="750" dirty="0"/>
          </a:p>
        </p:txBody>
      </p:sp>
      <p:sp>
        <p:nvSpPr>
          <p:cNvPr id="60" name="Text 58"/>
          <p:cNvSpPr txBox="1"/>
          <p:nvPr/>
        </p:nvSpPr>
        <p:spPr>
          <a:xfrm>
            <a:off x="4757316" y="1604524"/>
            <a:ext cx="1444081" cy="288503"/>
          </a:xfrm>
          <a:prstGeom prst="rect">
            <a:avLst/>
          </a:prstGeom>
          <a:noFill/>
          <a:ln/>
        </p:spPr>
        <p:txBody>
          <a:bodyPr wrap="square" lIns="0" tIns="0" rIns="0" bIns="0" rtlCol="0" anchor="t"/>
          <a:lstStyle/>
          <a:p>
            <a:pPr algn="l" indent="0" marL="0">
              <a:buNone/>
            </a:pPr>
            <a:r>
              <a:rPr lang="en-US" sz="750" dirty="0">
                <a:solidFill>
                  <a:srgbClr val="1971C2"/>
                </a:solidFill>
                <a:latin typeface="Calibri" pitchFamily="34" charset="0"/>
                <a:ea typeface="Calibri" pitchFamily="34" charset="-122"/>
                <a:cs typeface="Calibri" pitchFamily="34" charset="-120"/>
              </a:rPr>
              <a:t>Ad-hoc plan changes: align on</a:t>
            </a:r>
            <a:endParaRPr lang="en-US" sz="750" dirty="0"/>
          </a:p>
          <a:p>
            <a:pPr algn="l" indent="0" marL="0">
              <a:buNone/>
            </a:pPr>
            <a:r>
              <a:rPr lang="en-US" sz="750" dirty="0">
                <a:solidFill>
                  <a:srgbClr val="1971C2"/>
                </a:solidFill>
                <a:latin typeface="Calibri" pitchFamily="34" charset="0"/>
                <a:ea typeface="Calibri" pitchFamily="34" charset="-122"/>
                <a:cs typeface="Calibri" pitchFamily="34" charset="-120"/>
              </a:rPr>
              <a:t>budget source and priority</a:t>
            </a:r>
            <a:endParaRPr lang="en-US" sz="750" dirty="0"/>
          </a:p>
        </p:txBody>
      </p:sp>
      <p:sp>
        <p:nvSpPr>
          <p:cNvPr id="61" name="Text 59"/>
          <p:cNvSpPr txBox="1"/>
          <p:nvPr/>
        </p:nvSpPr>
        <p:spPr>
          <a:xfrm>
            <a:off x="2696773" y="3089525"/>
            <a:ext cx="1797366" cy="423610"/>
          </a:xfrm>
          <a:prstGeom prst="rect">
            <a:avLst/>
          </a:prstGeom>
          <a:noFill/>
          <a:ln/>
        </p:spPr>
        <p:txBody>
          <a:bodyPr wrap="square" lIns="0" tIns="0" rIns="0" bIns="0" rtlCol="0" anchor="t"/>
          <a:lstStyle/>
          <a:p>
            <a:pPr algn="l" indent="0" marL="0">
              <a:buNone/>
            </a:pPr>
            <a:r>
              <a:rPr lang="en-US" sz="750" dirty="0">
                <a:solidFill>
                  <a:srgbClr val="1971C2"/>
                </a:solidFill>
                <a:latin typeface="Calibri" pitchFamily="34" charset="0"/>
                <a:ea typeface="Calibri" pitchFamily="34" charset="-122"/>
                <a:cs typeface="Calibri" pitchFamily="34" charset="-120"/>
              </a:rPr>
              <a:t>Key insights and strategy ıs decıded. </a:t>
            </a:r>
            <a:endParaRPr lang="en-US" sz="750" dirty="0"/>
          </a:p>
          <a:p>
            <a:pPr algn="l" indent="0" marL="0">
              <a:buNone/>
            </a:pPr>
            <a:r>
              <a:rPr lang="en-US" sz="750" dirty="0">
                <a:solidFill>
                  <a:srgbClr val="1971C2"/>
                </a:solidFill>
                <a:latin typeface="Calibri" pitchFamily="34" charset="0"/>
                <a:ea typeface="Calibri" pitchFamily="34" charset="-122"/>
                <a:cs typeface="Calibri" pitchFamily="34" charset="-120"/>
              </a:rPr>
              <a:t>WPP must enact and report on for all </a:t>
            </a:r>
            <a:endParaRPr lang="en-US" sz="750" dirty="0"/>
          </a:p>
          <a:p>
            <a:pPr algn="l" indent="0" marL="0">
              <a:buNone/>
            </a:pPr>
            <a:r>
              <a:rPr lang="en-US" sz="750" dirty="0">
                <a:solidFill>
                  <a:srgbClr val="1971C2"/>
                </a:solidFill>
                <a:latin typeface="Calibri" pitchFamily="34" charset="0"/>
                <a:ea typeface="Calibri" pitchFamily="34" charset="-122"/>
                <a:cs typeface="Calibri" pitchFamily="34" charset="-120"/>
              </a:rPr>
              <a:t>channels and retailers.</a:t>
            </a:r>
            <a:endParaRPr lang="en-US" sz="750" dirty="0"/>
          </a:p>
        </p:txBody>
      </p:sp>
      <p:sp>
        <p:nvSpPr>
          <p:cNvPr id="62" name="Text 60"/>
          <p:cNvSpPr txBox="1"/>
          <p:nvPr/>
        </p:nvSpPr>
        <p:spPr>
          <a:xfrm>
            <a:off x="5710919" y="2557293"/>
            <a:ext cx="1961015" cy="423610"/>
          </a:xfrm>
          <a:prstGeom prst="rect">
            <a:avLst/>
          </a:prstGeom>
          <a:noFill/>
          <a:ln/>
        </p:spPr>
        <p:txBody>
          <a:bodyPr wrap="square" lIns="0" tIns="0" rIns="0" bIns="0" rtlCol="0" anchor="t"/>
          <a:lstStyle/>
          <a:p>
            <a:pPr algn="l" indent="0" marL="0">
              <a:buNone/>
            </a:pPr>
            <a:r>
              <a:rPr lang="en-US" sz="750" dirty="0">
                <a:solidFill>
                  <a:srgbClr val="1971C2"/>
                </a:solidFill>
                <a:latin typeface="Calibri" pitchFamily="34" charset="0"/>
                <a:ea typeface="Calibri" pitchFamily="34" charset="-122"/>
                <a:cs typeface="Calibri" pitchFamily="34" charset="-120"/>
              </a:rPr>
              <a:t>Briefs WPP on its activities; WPP secures</a:t>
            </a:r>
            <a:endParaRPr lang="en-US" sz="750" dirty="0"/>
          </a:p>
          <a:p>
            <a:pPr algn="l" indent="0" marL="0">
              <a:buNone/>
            </a:pPr>
            <a:r>
              <a:rPr lang="en-US" sz="750" dirty="0">
                <a:solidFill>
                  <a:srgbClr val="1971C2"/>
                </a:solidFill>
                <a:latin typeface="Calibri" pitchFamily="34" charset="0"/>
                <a:ea typeface="Calibri" pitchFamily="34" charset="-122"/>
                <a:cs typeface="Calibri" pitchFamily="34" charset="-120"/>
              </a:rPr>
              <a:t>full-funnel activation for the</a:t>
            </a:r>
            <a:endParaRPr lang="en-US" sz="750" dirty="0"/>
          </a:p>
          <a:p>
            <a:pPr algn="l" indent="0" marL="0">
              <a:buNone/>
            </a:pPr>
            <a:r>
              <a:rPr lang="en-US" sz="750" dirty="0">
                <a:solidFill>
                  <a:srgbClr val="1971C2"/>
                </a:solidFill>
                <a:latin typeface="Calibri" pitchFamily="34" charset="0"/>
                <a:ea typeface="Calibri" pitchFamily="34" charset="-122"/>
                <a:cs typeface="Calibri" pitchFamily="34" charset="-120"/>
              </a:rPr>
              <a:t>high-priority campaigns</a:t>
            </a:r>
            <a:endParaRPr lang="en-US" sz="750" dirty="0"/>
          </a:p>
        </p:txBody>
      </p:sp>
      <p:sp>
        <p:nvSpPr>
          <p:cNvPr id="63" name="Text 61"/>
          <p:cNvSpPr txBox="1"/>
          <p:nvPr/>
        </p:nvSpPr>
        <p:spPr>
          <a:xfrm>
            <a:off x="8013886" y="3779856"/>
            <a:ext cx="1783609" cy="288503"/>
          </a:xfrm>
          <a:prstGeom prst="rect">
            <a:avLst/>
          </a:prstGeom>
          <a:noFill/>
          <a:ln/>
        </p:spPr>
        <p:txBody>
          <a:bodyPr wrap="square" lIns="0" tIns="0" rIns="0" bIns="0" rtlCol="0" anchor="t"/>
          <a:lstStyle/>
          <a:p>
            <a:pPr algn="l" indent="0" marL="0">
              <a:buNone/>
            </a:pPr>
            <a:r>
              <a:rPr lang="en-US" sz="750" dirty="0">
                <a:solidFill>
                  <a:srgbClr val="1E1E1E"/>
                </a:solidFill>
                <a:latin typeface="Calibri" pitchFamily="34" charset="0"/>
                <a:ea typeface="Calibri" pitchFamily="34" charset="-122"/>
                <a:cs typeface="Calibri" pitchFamily="34" charset="-120"/>
              </a:rPr>
              <a:t>Shopper Marketeers do not negotiate;</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they own execution and deliverables.</a:t>
            </a:r>
            <a:endParaRPr lang="en-US" sz="750" dirty="0"/>
          </a:p>
        </p:txBody>
      </p:sp>
      <p:sp>
        <p:nvSpPr>
          <p:cNvPr id="64" name="Text 62"/>
          <p:cNvSpPr txBox="1"/>
          <p:nvPr/>
        </p:nvSpPr>
        <p:spPr>
          <a:xfrm>
            <a:off x="4982075" y="4927117"/>
            <a:ext cx="2536338" cy="423610"/>
          </a:xfrm>
          <a:prstGeom prst="rect">
            <a:avLst/>
          </a:prstGeom>
          <a:noFill/>
          <a:ln/>
        </p:spPr>
        <p:txBody>
          <a:bodyPr wrap="square" lIns="0" tIns="0" rIns="0" bIns="0" rtlCol="0" anchor="t"/>
          <a:lstStyle/>
          <a:p>
            <a:pPr algn="l" indent="0" marL="0">
              <a:buNone/>
            </a:pPr>
            <a:r>
              <a:rPr lang="en-US" sz="750" dirty="0">
                <a:solidFill>
                  <a:srgbClr val="1E1E1E"/>
                </a:solidFill>
                <a:latin typeface="Calibri" pitchFamily="34" charset="0"/>
                <a:ea typeface="Calibri" pitchFamily="34" charset="-122"/>
                <a:cs typeface="Calibri" pitchFamily="34" charset="-120"/>
              </a:rPr>
              <a:t>WPP leads the negotiations. Budget and expectations</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come from the Shopper Marketeers. WPP ensures all</a:t>
            </a:r>
            <a:endParaRPr lang="en-US" sz="750" dirty="0"/>
          </a:p>
          <a:p>
            <a:pPr algn="l" indent="0" marL="0">
              <a:buNone/>
            </a:pPr>
            <a:r>
              <a:rPr lang="en-US" sz="750" dirty="0">
                <a:solidFill>
                  <a:srgbClr val="1E1E1E"/>
                </a:solidFill>
                <a:latin typeface="Calibri" pitchFamily="34" charset="0"/>
                <a:ea typeface="Calibri" pitchFamily="34" charset="-122"/>
                <a:cs typeface="Calibri" pitchFamily="34" charset="-120"/>
              </a:rPr>
              <a:t>strategic insights on execution are applied.</a:t>
            </a:r>
            <a:endParaRPr lang="en-US" sz="750" dirty="0"/>
          </a:p>
        </p:txBody>
      </p:sp>
      <p:sp>
        <p:nvSpPr>
          <p:cNvPr id="65" name="Text 63"/>
          <p:cNvSpPr txBox="1"/>
          <p:nvPr/>
        </p:nvSpPr>
        <p:spPr>
          <a:xfrm>
            <a:off x="365760" y="5997529"/>
            <a:ext cx="2917237" cy="288503"/>
          </a:xfrm>
          <a:prstGeom prst="rect">
            <a:avLst/>
          </a:prstGeom>
          <a:noFill/>
          <a:ln/>
        </p:spPr>
        <p:txBody>
          <a:bodyPr wrap="square" lIns="0" tIns="0" rIns="0" bIns="0" rtlCol="0" anchor="t"/>
          <a:lstStyle/>
          <a:p>
            <a:pPr algn="l" indent="0" marL="0">
              <a:buNone/>
            </a:pPr>
            <a:r>
              <a:rPr lang="en-US" sz="750" dirty="0">
                <a:solidFill>
                  <a:srgbClr val="2F9E44"/>
                </a:solidFill>
                <a:latin typeface="Calibri" pitchFamily="34" charset="0"/>
                <a:ea typeface="Calibri" pitchFamily="34" charset="-122"/>
                <a:cs typeface="Calibri" pitchFamily="34" charset="-120"/>
              </a:rPr>
              <a:t>Annual alignment: business priorities vs. market opportunities.</a:t>
            </a:r>
            <a:endParaRPr lang="en-US" sz="750" dirty="0"/>
          </a:p>
          <a:p>
            <a:pPr algn="l" indent="0" marL="0">
              <a:buNone/>
            </a:pPr>
            <a:r>
              <a:rPr lang="en-US" sz="750" dirty="0">
                <a:solidFill>
                  <a:srgbClr val="2F9E44"/>
                </a:solidFill>
                <a:latin typeface="Calibri" pitchFamily="34" charset="0"/>
                <a:ea typeface="Calibri" pitchFamily="34" charset="-122"/>
                <a:cs typeface="Calibri" pitchFamily="34" charset="-120"/>
              </a:rPr>
              <a:t>These insights feed all teams.</a:t>
            </a:r>
            <a:endParaRPr lang="en-US" sz="750" dirty="0"/>
          </a:p>
        </p:txBody>
      </p:sp>
      <p:sp>
        <p:nvSpPr>
          <p:cNvPr id="66" name="Text 64"/>
          <p:cNvSpPr txBox="1"/>
          <p:nvPr/>
        </p:nvSpPr>
        <p:spPr>
          <a:xfrm>
            <a:off x="7189367" y="822960"/>
            <a:ext cx="342183" cy="136507"/>
          </a:xfrm>
          <a:prstGeom prst="rect">
            <a:avLst/>
          </a:prstGeom>
          <a:noFill/>
          <a:ln/>
        </p:spPr>
        <p:txBody>
          <a:bodyPr wrap="square" lIns="0" tIns="0" rIns="0" bIns="0" rtlCol="0" anchor="t"/>
          <a:lstStyle/>
          <a:p>
            <a:pPr algn="l" indent="0" marL="0">
              <a:buNone/>
            </a:pPr>
            <a:r>
              <a:rPr lang="en-US" sz="750" dirty="0">
                <a:solidFill>
                  <a:srgbClr val="495057"/>
                </a:solidFill>
                <a:latin typeface="Calibri" pitchFamily="34" charset="0"/>
                <a:ea typeface="Calibri" pitchFamily="34" charset="-122"/>
                <a:cs typeface="Calibri" pitchFamily="34" charset="-120"/>
              </a:rPr>
              <a:t>Arrows</a:t>
            </a:r>
            <a:endParaRPr lang="en-US" sz="750" dirty="0"/>
          </a:p>
        </p:txBody>
      </p:sp>
      <p:sp>
        <p:nvSpPr>
          <p:cNvPr id="67" name="Text 65"/>
          <p:cNvSpPr txBox="1"/>
          <p:nvPr/>
        </p:nvSpPr>
        <p:spPr>
          <a:xfrm>
            <a:off x="7553293" y="925314"/>
            <a:ext cx="1179246" cy="153395"/>
          </a:xfrm>
          <a:prstGeom prst="rect">
            <a:avLst/>
          </a:prstGeom>
          <a:noFill/>
          <a:ln/>
        </p:spPr>
        <p:txBody>
          <a:bodyPr wrap="square" lIns="0" tIns="0" rIns="0" bIns="0" rtlCol="0" anchor="t"/>
          <a:lstStyle/>
          <a:p>
            <a:pPr algn="l" indent="0" marL="0">
              <a:buNone/>
            </a:pPr>
            <a:r>
              <a:rPr lang="en-US" sz="750" dirty="0">
                <a:solidFill>
                  <a:srgbClr val="1E1E1E"/>
                </a:solidFill>
                <a:latin typeface="Calibri" pitchFamily="34" charset="0"/>
                <a:ea typeface="Calibri" pitchFamily="34" charset="-122"/>
                <a:cs typeface="Calibri" pitchFamily="34" charset="-120"/>
              </a:rPr>
              <a:t>Workflow and hand-offs</a:t>
            </a:r>
            <a:endParaRPr lang="en-US" sz="750" dirty="0"/>
          </a:p>
        </p:txBody>
      </p:sp>
      <p:sp>
        <p:nvSpPr>
          <p:cNvPr id="68" name="Text 66"/>
          <p:cNvSpPr txBox="1"/>
          <p:nvPr/>
        </p:nvSpPr>
        <p:spPr>
          <a:xfrm>
            <a:off x="7553293" y="1084532"/>
            <a:ext cx="1459163" cy="153395"/>
          </a:xfrm>
          <a:prstGeom prst="rect">
            <a:avLst/>
          </a:prstGeom>
          <a:noFill/>
          <a:ln/>
        </p:spPr>
        <p:txBody>
          <a:bodyPr wrap="square" lIns="0" tIns="0" rIns="0" bIns="0" rtlCol="0" anchor="t"/>
          <a:lstStyle/>
          <a:p>
            <a:pPr algn="l" indent="0" marL="0">
              <a:buNone/>
            </a:pPr>
            <a:r>
              <a:rPr lang="en-US" sz="750" dirty="0">
                <a:solidFill>
                  <a:srgbClr val="1971C2"/>
                </a:solidFill>
                <a:latin typeface="Calibri" pitchFamily="34" charset="0"/>
                <a:ea typeface="Calibri" pitchFamily="34" charset="-122"/>
                <a:cs typeface="Calibri" pitchFamily="34" charset="-120"/>
              </a:rPr>
              <a:t>Priorities, budget and briefings</a:t>
            </a:r>
            <a:endParaRPr lang="en-US" sz="750" dirty="0"/>
          </a:p>
        </p:txBody>
      </p:sp>
      <p:sp>
        <p:nvSpPr>
          <p:cNvPr id="69" name="Text 67"/>
          <p:cNvSpPr txBox="1"/>
          <p:nvPr/>
        </p:nvSpPr>
        <p:spPr>
          <a:xfrm>
            <a:off x="7553293" y="1243749"/>
            <a:ext cx="1162127" cy="153395"/>
          </a:xfrm>
          <a:prstGeom prst="rect">
            <a:avLst/>
          </a:prstGeom>
          <a:noFill/>
          <a:ln/>
        </p:spPr>
        <p:txBody>
          <a:bodyPr wrap="square" lIns="0" tIns="0" rIns="0" bIns="0" rtlCol="0" anchor="t"/>
          <a:lstStyle/>
          <a:p>
            <a:pPr algn="l" indent="0" marL="0">
              <a:buNone/>
            </a:pPr>
            <a:r>
              <a:rPr lang="en-US" sz="750" dirty="0">
                <a:solidFill>
                  <a:srgbClr val="2F9E44"/>
                </a:solidFill>
                <a:latin typeface="Calibri" pitchFamily="34" charset="0"/>
                <a:ea typeface="Calibri" pitchFamily="34" charset="-122"/>
                <a:cs typeface="Calibri" pitchFamily="34" charset="-120"/>
              </a:rPr>
              <a:t>Insights and evaluations</a:t>
            </a:r>
            <a:endParaRPr lang="en-US" sz="750" dirty="0"/>
          </a:p>
        </p:txBody>
      </p:sp>
      <p:sp>
        <p:nvSpPr>
          <p:cNvPr id="70" name="Text 68"/>
          <p:cNvSpPr txBox="1"/>
          <p:nvPr/>
        </p:nvSpPr>
        <p:spPr>
          <a:xfrm>
            <a:off x="7553293" y="1402967"/>
            <a:ext cx="517003" cy="153395"/>
          </a:xfrm>
          <a:prstGeom prst="rect">
            <a:avLst/>
          </a:prstGeom>
          <a:noFill/>
          <a:ln/>
        </p:spPr>
        <p:txBody>
          <a:bodyPr wrap="square" lIns="0" tIns="0" rIns="0" bIns="0" rtlCol="0" anchor="t"/>
          <a:lstStyle/>
          <a:p>
            <a:pPr algn="l" indent="0" marL="0">
              <a:buNone/>
            </a:pPr>
            <a:r>
              <a:rPr lang="en-US" sz="750" dirty="0">
                <a:solidFill>
                  <a:srgbClr val="E03131"/>
                </a:solidFill>
                <a:latin typeface="Calibri" pitchFamily="34" charset="0"/>
                <a:ea typeface="Calibri" pitchFamily="34" charset="-122"/>
                <a:cs typeface="Calibri" pitchFamily="34" charset="-120"/>
              </a:rPr>
              <a:t>Escalation</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1E1E1E"/>
                </a:solidFill>
                <a:latin typeface="Calibri" pitchFamily="34" charset="0"/>
                <a:ea typeface="Calibri" pitchFamily="34" charset="-122"/>
                <a:cs typeface="Calibri" pitchFamily="34" charset="-120"/>
              </a:rPr>
              <a:t>WPP: specific responsibilities</a:t>
            </a:r>
            <a:endParaRPr lang="en-US" sz="2600" dirty="0"/>
          </a:p>
        </p:txBody>
      </p:sp>
      <p:sp>
        <p:nvSpPr>
          <p:cNvPr id="3" name="Text 1"/>
          <p:cNvSpPr txBox="1"/>
          <p:nvPr/>
        </p:nvSpPr>
        <p:spPr>
          <a:xfrm>
            <a:off x="457200" y="914400"/>
            <a:ext cx="6766560" cy="603504"/>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1. Campaign overview</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WPP holds the full overview of every campaign - deliverables, media-mix strategy, store execution and end evaluation.</a:t>
            </a:r>
            <a:endParaRPr lang="en-US" sz="1200" dirty="0"/>
          </a:p>
        </p:txBody>
      </p:sp>
      <p:sp>
        <p:nvSpPr>
          <p:cNvPr id="4" name="Text 2"/>
          <p:cNvSpPr txBox="1"/>
          <p:nvPr/>
        </p:nvSpPr>
        <p:spPr>
          <a:xfrm>
            <a:off x="457200" y="1609344"/>
            <a:ext cx="6766560" cy="603504"/>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2. Evaluation follow-up</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WPP reports back when the first evaluations are delivered and chases retail media whenever evaluations are missing or not done as agreed.</a:t>
            </a:r>
            <a:endParaRPr lang="en-US" sz="1200" dirty="0"/>
          </a:p>
        </p:txBody>
      </p:sp>
      <p:sp>
        <p:nvSpPr>
          <p:cNvPr id="5" name="Text 3"/>
          <p:cNvSpPr txBox="1"/>
          <p:nvPr/>
        </p:nvSpPr>
        <p:spPr>
          <a:xfrm>
            <a:off x="457200" y="2304288"/>
            <a:ext cx="6766560" cy="768096"/>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3. Negotiation lead</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WPP leads all negotiations with retail media. The Shopper Marketeer only provides the budget, the spending ceiling and the priority. Everything else runs through WPP, including all evaluations, which retail media sends directly to WPP.</a:t>
            </a:r>
            <a:endParaRPr lang="en-US" sz="1200" dirty="0"/>
          </a:p>
        </p:txBody>
      </p:sp>
      <p:sp>
        <p:nvSpPr>
          <p:cNvPr id="6" name="Text 4"/>
          <p:cNvSpPr txBox="1"/>
          <p:nvPr/>
        </p:nvSpPr>
        <p:spPr>
          <a:xfrm>
            <a:off x="457200" y="3163824"/>
            <a:ext cx="6766560" cy="932688"/>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4. End-of-campaign report (fixed template)</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the stores we wanted to activate, the stores selected, the actual execution, flags from Smart Spotters, the Albert Heijn execution report and any other metric that proves the execution went flawlessly. Reports are logged in SharePoint and delivered to the Shopper Marketeer WPP supports, plus one total overview for the Lead Home Channel every quarter.</a:t>
            </a:r>
            <a:endParaRPr lang="en-US" sz="1200" dirty="0"/>
          </a:p>
        </p:txBody>
      </p:sp>
      <p:sp>
        <p:nvSpPr>
          <p:cNvPr id="7" name="Text 5"/>
          <p:cNvSpPr txBox="1"/>
          <p:nvPr/>
        </p:nvSpPr>
        <p:spPr>
          <a:xfrm>
            <a:off x="457200" y="4187952"/>
            <a:ext cx="6766560" cy="438912"/>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5. Full-funnel alignment with KO</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WPP aligns with The Coca-Cola Company so that every campaign is built as a complete marketing funnel.</a:t>
            </a:r>
            <a:endParaRPr lang="en-US" sz="1200" dirty="0"/>
          </a:p>
        </p:txBody>
      </p:sp>
      <p:sp>
        <p:nvSpPr>
          <p:cNvPr id="8" name="Text 6"/>
          <p:cNvSpPr txBox="1"/>
          <p:nvPr/>
        </p:nvSpPr>
        <p:spPr>
          <a:xfrm>
            <a:off x="457200" y="4718304"/>
            <a:ext cx="6766560" cy="768096"/>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6. Owner of strategic insights</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all core strategic insights and ways of running campaigns go through WPP. When research or experience shows a better process or a better way to push an asset, WPP takes charge of that insight and ensures every campaign abides by it.</a:t>
            </a:r>
            <a:endParaRPr lang="en-US" sz="1200" dirty="0"/>
          </a:p>
        </p:txBody>
      </p:sp>
      <p:sp>
        <p:nvSpPr>
          <p:cNvPr id="9" name="Text 7"/>
          <p:cNvSpPr txBox="1"/>
          <p:nvPr/>
        </p:nvSpPr>
        <p:spPr>
          <a:xfrm>
            <a:off x="457200" y="5577840"/>
            <a:ext cx="6766560" cy="768096"/>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Calibri" pitchFamily="34" charset="0"/>
                <a:ea typeface="Calibri" pitchFamily="34" charset="-122"/>
                <a:cs typeface="Calibri" pitchFamily="34" charset="-120"/>
              </a:rPr>
              <a:t>7. Store selection and evaluation</a:t>
            </a:r>
            <a:endParaRPr lang="en-US" sz="1200" dirty="0"/>
          </a:p>
          <a:p>
            <a:pPr indent="0" marL="0">
              <a:spcAft>
                <a:spcPts val="200"/>
              </a:spcAft>
              <a:buNone/>
            </a:pPr>
            <a:r>
              <a:rPr lang="en-US" sz="1050" dirty="0">
                <a:solidFill>
                  <a:srgbClr val="333333"/>
                </a:solidFill>
                <a:latin typeface="Calibri" pitchFamily="34" charset="0"/>
                <a:ea typeface="Calibri" pitchFamily="34" charset="-122"/>
                <a:cs typeface="Calibri" pitchFamily="34" charset="-120"/>
              </a:rPr>
              <a:t>done together with our data analyst. The retailer’s retail media data analyst, our data analyst and WPP form a triangle, and they always brief what was decided and how the campaign will run back to the Shopper Marketeer responsible for that channel.</a:t>
            </a:r>
            <a:endParaRPr lang="en-US" sz="1200" dirty="0"/>
          </a:p>
        </p:txBody>
      </p:sp>
      <p:sp>
        <p:nvSpPr>
          <p:cNvPr id="10" name="Text 8"/>
          <p:cNvSpPr txBox="1"/>
          <p:nvPr/>
        </p:nvSpPr>
        <p:spPr>
          <a:xfrm>
            <a:off x="7589520" y="1143000"/>
            <a:ext cx="4023360" cy="320040"/>
          </a:xfrm>
          <a:prstGeom prst="rect">
            <a:avLst/>
          </a:prstGeom>
          <a:noFill/>
          <a:ln/>
        </p:spPr>
        <p:txBody>
          <a:bodyPr wrap="square" lIns="0" tIns="0" rIns="0" bIns="0" rtlCol="0" anchor="ctr"/>
          <a:lstStyle/>
          <a:p>
            <a:pPr indent="0" marL="0">
              <a:buNone/>
            </a:pPr>
            <a:r>
              <a:rPr lang="en-US" sz="1300" b="1" dirty="0">
                <a:solidFill>
                  <a:srgbClr val="495057"/>
                </a:solidFill>
                <a:latin typeface="Calibri" pitchFamily="34" charset="0"/>
                <a:ea typeface="Calibri" pitchFamily="34" charset="-122"/>
                <a:cs typeface="Calibri" pitchFamily="34" charset="-120"/>
              </a:rPr>
              <a:t>Store selection and evaluation triangle</a:t>
            </a:r>
            <a:endParaRPr lang="en-US" sz="1300" dirty="0"/>
          </a:p>
        </p:txBody>
      </p:sp>
      <p:sp>
        <p:nvSpPr>
          <p:cNvPr id="11" name="Shape 9"/>
          <p:cNvSpPr/>
          <p:nvPr/>
        </p:nvSpPr>
        <p:spPr>
          <a:xfrm>
            <a:off x="8869680" y="1783080"/>
            <a:ext cx="1463040" cy="548640"/>
          </a:xfrm>
          <a:prstGeom prst="rect">
            <a:avLst/>
          </a:prstGeom>
          <a:solidFill>
            <a:srgbClr val="FFC9C9"/>
          </a:solidFill>
          <a:ln w="12700">
            <a:solidFill>
              <a:srgbClr val="1E1E1E"/>
            </a:solidFill>
            <a:prstDash val="solid"/>
          </a:ln>
        </p:spPr>
      </p:sp>
      <p:sp>
        <p:nvSpPr>
          <p:cNvPr id="12" name="Text 10"/>
          <p:cNvSpPr txBox="1"/>
          <p:nvPr/>
        </p:nvSpPr>
        <p:spPr>
          <a:xfrm>
            <a:off x="8869680" y="1783080"/>
            <a:ext cx="1463040" cy="548640"/>
          </a:xfrm>
          <a:prstGeom prst="rect">
            <a:avLst/>
          </a:prstGeom>
          <a:noFill/>
          <a:ln/>
        </p:spPr>
        <p:txBody>
          <a:bodyPr wrap="square" lIns="25400" tIns="25400" rIns="25400" bIns="25400" rtlCol="0" anchor="ctr"/>
          <a:lstStyle/>
          <a:p>
            <a:pPr algn="ctr" indent="0" marL="0">
              <a:buNone/>
            </a:pPr>
            <a:r>
              <a:rPr lang="en-US" sz="1100" b="1" dirty="0">
                <a:solidFill>
                  <a:srgbClr val="1E1E1E"/>
                </a:solidFill>
                <a:latin typeface="Calibri" pitchFamily="34" charset="0"/>
                <a:ea typeface="Calibri" pitchFamily="34" charset="-122"/>
                <a:cs typeface="Calibri" pitchFamily="34" charset="-120"/>
              </a:rPr>
              <a:t>WPP</a:t>
            </a:r>
            <a:endParaRPr lang="en-US" sz="1100" dirty="0"/>
          </a:p>
        </p:txBody>
      </p:sp>
      <p:sp>
        <p:nvSpPr>
          <p:cNvPr id="13" name="Shape 11"/>
          <p:cNvSpPr/>
          <p:nvPr/>
        </p:nvSpPr>
        <p:spPr>
          <a:xfrm>
            <a:off x="7589520" y="3429000"/>
            <a:ext cx="1828800" cy="640080"/>
          </a:xfrm>
          <a:prstGeom prst="rect">
            <a:avLst/>
          </a:prstGeom>
          <a:solidFill>
            <a:srgbClr val="A5D8FF"/>
          </a:solidFill>
          <a:ln w="12700">
            <a:solidFill>
              <a:srgbClr val="1E1E1E"/>
            </a:solidFill>
            <a:prstDash val="solid"/>
          </a:ln>
        </p:spPr>
      </p:sp>
      <p:sp>
        <p:nvSpPr>
          <p:cNvPr id="14" name="Text 12"/>
          <p:cNvSpPr txBox="1"/>
          <p:nvPr/>
        </p:nvSpPr>
        <p:spPr>
          <a:xfrm>
            <a:off x="7589520" y="3429000"/>
            <a:ext cx="1828800" cy="640080"/>
          </a:xfrm>
          <a:prstGeom prst="rect">
            <a:avLst/>
          </a:prstGeom>
          <a:noFill/>
          <a:ln/>
        </p:spPr>
        <p:txBody>
          <a:bodyPr wrap="square" lIns="25400" tIns="25400" rIns="25400" bIns="25400" rtlCol="0" anchor="ctr"/>
          <a:lstStyle/>
          <a:p>
            <a:pPr algn="ctr" indent="0" marL="0">
              <a:buNone/>
            </a:pPr>
            <a:r>
              <a:rPr lang="en-US" sz="1100" b="1" dirty="0">
                <a:solidFill>
                  <a:srgbClr val="1E1E1E"/>
                </a:solidFill>
                <a:latin typeface="Calibri" pitchFamily="34" charset="0"/>
                <a:ea typeface="Calibri" pitchFamily="34" charset="-122"/>
                <a:cs typeface="Calibri" pitchFamily="34" charset="-120"/>
              </a:rPr>
              <a:t>Retail media data analyst</a:t>
            </a:r>
            <a:endParaRPr lang="en-US" sz="1100" dirty="0"/>
          </a:p>
          <a:p>
            <a:pPr algn="ctr" indent="0" marL="0">
              <a:buNone/>
            </a:pPr>
            <a:r>
              <a:rPr lang="en-US" sz="1100" b="1" dirty="0">
                <a:solidFill>
                  <a:srgbClr val="1E1E1E"/>
                </a:solidFill>
                <a:latin typeface="Calibri" pitchFamily="34" charset="0"/>
                <a:ea typeface="Calibri" pitchFamily="34" charset="-122"/>
                <a:cs typeface="Calibri" pitchFamily="34" charset="-120"/>
              </a:rPr>
              <a:t>(retailer)</a:t>
            </a:r>
            <a:endParaRPr lang="en-US" sz="1100" dirty="0"/>
          </a:p>
        </p:txBody>
      </p:sp>
      <p:sp>
        <p:nvSpPr>
          <p:cNvPr id="15" name="Shape 13"/>
          <p:cNvSpPr/>
          <p:nvPr/>
        </p:nvSpPr>
        <p:spPr>
          <a:xfrm>
            <a:off x="9966960" y="3429000"/>
            <a:ext cx="1645920" cy="640080"/>
          </a:xfrm>
          <a:prstGeom prst="rect">
            <a:avLst/>
          </a:prstGeom>
          <a:solidFill>
            <a:srgbClr val="A5D8FF"/>
          </a:solidFill>
          <a:ln w="12700">
            <a:solidFill>
              <a:srgbClr val="1E1E1E"/>
            </a:solidFill>
            <a:prstDash val="solid"/>
          </a:ln>
        </p:spPr>
      </p:sp>
      <p:sp>
        <p:nvSpPr>
          <p:cNvPr id="16" name="Text 14"/>
          <p:cNvSpPr txBox="1"/>
          <p:nvPr/>
        </p:nvSpPr>
        <p:spPr>
          <a:xfrm>
            <a:off x="9966960" y="3429000"/>
            <a:ext cx="1645920" cy="640080"/>
          </a:xfrm>
          <a:prstGeom prst="rect">
            <a:avLst/>
          </a:prstGeom>
          <a:noFill/>
          <a:ln/>
        </p:spPr>
        <p:txBody>
          <a:bodyPr wrap="square" lIns="25400" tIns="25400" rIns="25400" bIns="25400" rtlCol="0" anchor="ctr"/>
          <a:lstStyle/>
          <a:p>
            <a:pPr algn="ctr" indent="0" marL="0">
              <a:buNone/>
            </a:pPr>
            <a:r>
              <a:rPr lang="en-US" sz="1100" b="1" dirty="0">
                <a:solidFill>
                  <a:srgbClr val="1E1E1E"/>
                </a:solidFill>
                <a:latin typeface="Calibri" pitchFamily="34" charset="0"/>
                <a:ea typeface="Calibri" pitchFamily="34" charset="-122"/>
                <a:cs typeface="Calibri" pitchFamily="34" charset="-120"/>
              </a:rPr>
              <a:t>CCEP data analyst</a:t>
            </a:r>
            <a:endParaRPr lang="en-US" sz="1100" dirty="0"/>
          </a:p>
        </p:txBody>
      </p:sp>
      <p:sp>
        <p:nvSpPr>
          <p:cNvPr id="17" name="Shape 15"/>
          <p:cNvSpPr/>
          <p:nvPr/>
        </p:nvSpPr>
        <p:spPr>
          <a:xfrm>
            <a:off x="9601200" y="5074920"/>
            <a:ext cx="2011680" cy="640080"/>
          </a:xfrm>
          <a:prstGeom prst="rect">
            <a:avLst/>
          </a:prstGeom>
          <a:solidFill>
            <a:srgbClr val="A5D8FF"/>
          </a:solidFill>
          <a:ln w="12700">
            <a:solidFill>
              <a:srgbClr val="1E1E1E"/>
            </a:solidFill>
            <a:prstDash val="solid"/>
          </a:ln>
        </p:spPr>
      </p:sp>
      <p:sp>
        <p:nvSpPr>
          <p:cNvPr id="18" name="Text 16"/>
          <p:cNvSpPr txBox="1"/>
          <p:nvPr/>
        </p:nvSpPr>
        <p:spPr>
          <a:xfrm>
            <a:off x="9601200" y="5074920"/>
            <a:ext cx="2011680" cy="640080"/>
          </a:xfrm>
          <a:prstGeom prst="rect">
            <a:avLst/>
          </a:prstGeom>
          <a:noFill/>
          <a:ln/>
        </p:spPr>
        <p:txBody>
          <a:bodyPr wrap="square" lIns="25400" tIns="25400" rIns="25400" bIns="25400" rtlCol="0" anchor="ctr"/>
          <a:lstStyle/>
          <a:p>
            <a:pPr algn="ctr" indent="0" marL="0">
              <a:buNone/>
            </a:pPr>
            <a:r>
              <a:rPr lang="en-US" sz="1100" b="1" dirty="0">
                <a:solidFill>
                  <a:srgbClr val="1E1E1E"/>
                </a:solidFill>
                <a:latin typeface="Calibri" pitchFamily="34" charset="0"/>
                <a:ea typeface="Calibri" pitchFamily="34" charset="-122"/>
                <a:cs typeface="Calibri" pitchFamily="34" charset="-120"/>
              </a:rPr>
              <a:t>Shopper Marketeer</a:t>
            </a:r>
            <a:endParaRPr lang="en-US" sz="1100" dirty="0"/>
          </a:p>
          <a:p>
            <a:pPr algn="ctr" indent="0" marL="0">
              <a:buNone/>
            </a:pPr>
            <a:r>
              <a:rPr lang="en-US" sz="1100" b="1" dirty="0">
                <a:solidFill>
                  <a:srgbClr val="1E1E1E"/>
                </a:solidFill>
                <a:latin typeface="Calibri" pitchFamily="34" charset="0"/>
                <a:ea typeface="Calibri" pitchFamily="34" charset="-122"/>
                <a:cs typeface="Calibri" pitchFamily="34" charset="-120"/>
              </a:rPr>
              <a:t>(channel owner)</a:t>
            </a:r>
            <a:endParaRPr lang="en-US" sz="1100" dirty="0"/>
          </a:p>
        </p:txBody>
      </p:sp>
      <p:sp>
        <p:nvSpPr>
          <p:cNvPr id="19" name="Shape 17"/>
          <p:cNvSpPr/>
          <p:nvPr/>
        </p:nvSpPr>
        <p:spPr>
          <a:xfrm flipH="1">
            <a:off x="8686800" y="2331720"/>
            <a:ext cx="457200" cy="1097280"/>
          </a:xfrm>
          <a:prstGeom prst="line">
            <a:avLst/>
          </a:prstGeom>
          <a:noFill/>
          <a:ln w="19050">
            <a:solidFill>
              <a:srgbClr val="1E1E1E"/>
            </a:solidFill>
            <a:prstDash val="solid"/>
            <a:headEnd type="triangle"/>
            <a:tailEnd type="triangle"/>
          </a:ln>
        </p:spPr>
      </p:sp>
      <p:sp>
        <p:nvSpPr>
          <p:cNvPr id="20" name="Shape 18"/>
          <p:cNvSpPr/>
          <p:nvPr/>
        </p:nvSpPr>
        <p:spPr>
          <a:xfrm>
            <a:off x="10058400" y="2331720"/>
            <a:ext cx="566928" cy="1097280"/>
          </a:xfrm>
          <a:prstGeom prst="line">
            <a:avLst/>
          </a:prstGeom>
          <a:noFill/>
          <a:ln w="19050">
            <a:solidFill>
              <a:srgbClr val="1E1E1E"/>
            </a:solidFill>
            <a:prstDash val="solid"/>
            <a:headEnd type="triangle"/>
            <a:tailEnd type="triangle"/>
          </a:ln>
        </p:spPr>
      </p:sp>
      <p:sp>
        <p:nvSpPr>
          <p:cNvPr id="21" name="Shape 19"/>
          <p:cNvSpPr/>
          <p:nvPr/>
        </p:nvSpPr>
        <p:spPr>
          <a:xfrm>
            <a:off x="9418320" y="3749040"/>
            <a:ext cx="548640" cy="9144"/>
          </a:xfrm>
          <a:prstGeom prst="line">
            <a:avLst/>
          </a:prstGeom>
          <a:noFill/>
          <a:ln w="19050">
            <a:solidFill>
              <a:srgbClr val="1E1E1E"/>
            </a:solidFill>
            <a:prstDash val="solid"/>
            <a:headEnd type="triangle"/>
            <a:tailEnd type="triangle"/>
          </a:ln>
        </p:spPr>
      </p:sp>
      <p:sp>
        <p:nvSpPr>
          <p:cNvPr id="22" name="Shape 20"/>
          <p:cNvSpPr/>
          <p:nvPr/>
        </p:nvSpPr>
        <p:spPr>
          <a:xfrm flipH="1">
            <a:off x="10607040" y="4069080"/>
            <a:ext cx="182880" cy="1005840"/>
          </a:xfrm>
          <a:prstGeom prst="line">
            <a:avLst/>
          </a:prstGeom>
          <a:noFill/>
          <a:ln w="19050">
            <a:solidFill>
              <a:srgbClr val="1E1E1E"/>
            </a:solidFill>
            <a:prstDash val="solid"/>
            <a:headEnd type="none"/>
            <a:tailEnd type="triangle"/>
          </a:ln>
        </p:spPr>
      </p:sp>
      <p:sp>
        <p:nvSpPr>
          <p:cNvPr id="23" name="Text 21"/>
          <p:cNvSpPr txBox="1"/>
          <p:nvPr/>
        </p:nvSpPr>
        <p:spPr>
          <a:xfrm>
            <a:off x="9418320" y="3794760"/>
            <a:ext cx="548640" cy="411480"/>
          </a:xfrm>
          <a:prstGeom prst="rect">
            <a:avLst/>
          </a:prstGeom>
          <a:noFill/>
          <a:ln/>
        </p:spPr>
        <p:txBody>
          <a:bodyPr wrap="square" lIns="0" tIns="0" rIns="0" bIns="0" rtlCol="0" anchor="t"/>
          <a:lstStyle/>
          <a:p>
            <a:pPr algn="ctr" indent="0" marL="0">
              <a:buNone/>
            </a:pPr>
            <a:r>
              <a:rPr lang="en-US" sz="900" dirty="0">
                <a:solidFill>
                  <a:srgbClr val="1E1E1E"/>
                </a:solidFill>
                <a:latin typeface="Calibri" pitchFamily="34" charset="0"/>
                <a:ea typeface="Calibri" pitchFamily="34" charset="-122"/>
                <a:cs typeface="Calibri" pitchFamily="34" charset="-120"/>
              </a:rPr>
              <a:t>Store selection and evaluation method</a:t>
            </a:r>
            <a:endParaRPr lang="en-US" sz="900" dirty="0"/>
          </a:p>
        </p:txBody>
      </p:sp>
      <p:sp>
        <p:nvSpPr>
          <p:cNvPr id="24" name="Text 22"/>
          <p:cNvSpPr txBox="1"/>
          <p:nvPr/>
        </p:nvSpPr>
        <p:spPr>
          <a:xfrm>
            <a:off x="10863072" y="4389120"/>
            <a:ext cx="1188720" cy="411480"/>
          </a:xfrm>
          <a:prstGeom prst="rect">
            <a:avLst/>
          </a:prstGeom>
          <a:noFill/>
          <a:ln/>
        </p:spPr>
        <p:txBody>
          <a:bodyPr wrap="square" lIns="0" tIns="0" rIns="0" bIns="0" rtlCol="0" anchor="t"/>
          <a:lstStyle/>
          <a:p>
            <a:pPr algn="l" indent="0" marL="0">
              <a:buNone/>
            </a:pPr>
            <a:r>
              <a:rPr lang="en-US" sz="900" dirty="0">
                <a:solidFill>
                  <a:srgbClr val="1E1E1E"/>
                </a:solidFill>
                <a:latin typeface="Calibri" pitchFamily="34" charset="0"/>
                <a:ea typeface="Calibri" pitchFamily="34" charset="-122"/>
                <a:cs typeface="Calibri" pitchFamily="34" charset="-120"/>
              </a:rPr>
              <a:t>Brief: decisions and</a:t>
            </a:r>
            <a:endParaRPr lang="en-US" sz="900" dirty="0"/>
          </a:p>
          <a:p>
            <a:pPr algn="l" indent="0" marL="0">
              <a:buNone/>
            </a:pPr>
            <a:r>
              <a:rPr lang="en-US" sz="900" dirty="0">
                <a:solidFill>
                  <a:srgbClr val="1E1E1E"/>
                </a:solidFill>
                <a:latin typeface="Calibri" pitchFamily="34" charset="0"/>
                <a:ea typeface="Calibri" pitchFamily="34" charset="-122"/>
                <a:cs typeface="Calibri" pitchFamily="34" charset="-120"/>
              </a:rPr>
              <a:t>campaign approach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 Channel Strategy and Execution Flow</dc:title>
  <dc:subject>PptxGenJS Presentation</dc:subject>
  <dc:creator>PptxGenJS</dc:creator>
  <cp:lastModifiedBy>PptxGenJS</cp:lastModifiedBy>
  <cp:revision>1</cp:revision>
  <dcterms:created xsi:type="dcterms:W3CDTF">2026-09-09T07:26:50Z</dcterms:created>
  <dcterms:modified xsi:type="dcterms:W3CDTF">2026-09-09T07:26:50Z</dcterms:modified>
</cp:coreProperties>
</file>